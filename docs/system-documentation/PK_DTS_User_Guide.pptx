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captured from the actual application using isolated, synthetic demonstration data. No generated passwords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login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address supplied by your system administrator and use your own account.</a:t>
            </a:r>
          </a:p>
          <a:p>
            <a:r>
              <a:t>Hardcopy Documents tracks physical records; Softcopy Documents provides controlled electronic records and files.</a:t>
            </a:r>
          </a:p>
          <a:p>
            <a:r>
              <a:t>Use My Requests for approval proposals and My Tasks for assigned approvals or physical handoffs.</a:t>
            </a:r>
          </a:p>
          <a:p>
            <a:r>
              <a:t>Document controllers and administrators receive extra management menus when permitted.</a:t>
            </a:r>
          </a:p>
          <a:p>
            <a:r>
              <a:t>Ask the administrator when a needed menu, action, or record is unavailable.</a:t>
            </a:r>
          </a:p>
          <a:p>
            <a:r>
              <a:t>Notes:</a:t>
            </a:r>
          </a:p>
          <a:p>
            <a:r>
              <a:t>Menus, records, request actions, and file buttons depend on your permissions and document access. A colleague may see different options.</a:t>
            </a:r>
          </a:p>
          <a:p>
            <a:r>
              <a:t>This guide describes the existing PK Document Control interface. Ask your administrator when a needed menu or document is unavailable; do not use another person's account.</a:t>
            </a:r>
          </a:p>
          <a:p>
            <a:r>
              <a:t>Document access does not automatically grant permission to edit, download, print, approve, or administer the system.</a:t>
            </a:r>
          </a:p>
          <a:p>
            <a:r>
              <a:t>Source references:</a:t>
            </a:r>
          </a:p>
          <a:p>
            <a:r>
              <a:t>application/view/layout/sidebar_top_nav.php:4</a:t>
            </a:r>
          </a:p>
          <a:p>
            <a:r>
              <a:t>application/controllers/Documents.php:17</a:t>
            </a:r>
          </a:p>
          <a:p>
            <a:r>
              <a:t>application/controllers/Requests.php:18</a:t>
            </a:r>
          </a:p>
          <a:p>
            <a:r>
              <a:t>application/view/pages/authentication/index.php:156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login / change-password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Enter Username and Password, then select Sign In.</a:t>
            </a:r>
          </a:p>
          <a:p>
            <a:r>
              <a:t>For a temporary password, complete Current or temporary password, New password, and Confirm new password.</a:t>
            </a:r>
          </a:p>
          <a:p>
            <a:r>
              <a:t>Choose more than 8 characters, up to 72 bytes; select Set permanent password.</a:t>
            </a:r>
          </a:p>
          <a:p>
            <a:r>
              <a:t>Later, open your name → Change Password, complete the fields, then Update Password → Confirm.</a:t>
            </a:r>
          </a:p>
          <a:p>
            <a:r>
              <a:t>Open your name → Sign Out → Confirm to finish your session.</a:t>
            </a:r>
          </a:p>
          <a:p>
            <a:r>
              <a:t>Notes:</a:t>
            </a:r>
          </a:p>
          <a:p>
            <a:r>
              <a:t>If Invalid username or password appears, recheck the credentials. After too many failed attempts, wait before trying again or contact the administrator.</a:t>
            </a:r>
          </a:p>
          <a:p>
            <a:r>
              <a:t>There is no self-service password recovery form on the sign-in screen. An administrator can generate a new temporary password.</a:t>
            </a:r>
          </a:p>
          <a:p>
            <a:r>
              <a:t>Your name and role appear in the account menu. The available self-service account action is Change Password.</a:t>
            </a:r>
          </a:p>
          <a:p>
            <a:r>
              <a:t>Source references:</a:t>
            </a:r>
          </a:p>
          <a:p>
            <a:r>
              <a:t>application/view/pages/authentication/index.php:116</a:t>
            </a:r>
          </a:p>
          <a:p>
            <a:r>
              <a:t>application/view/pages/authentication/first_login.php:8</a:t>
            </a:r>
          </a:p>
          <a:p>
            <a:r>
              <a:t>application/view/pages/authentication/password_fields.php:3</a:t>
            </a:r>
          </a:p>
          <a:p>
            <a:r>
              <a:t>application/view/layout/sidebar_top_nav.php:323</a:t>
            </a:r>
          </a:p>
          <a:p>
            <a:r>
              <a:t>application/view/layout/footer.php:183</a:t>
            </a:r>
          </a:p>
          <a:p>
            <a:r>
              <a:t>application/controllers/Auth.php:32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dashboard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Select Overview for your dashboard. On narrow screens, use Toggle navigation to show the sidebar.</a:t>
            </a:r>
          </a:p>
          <a:p>
            <a:r>
              <a:t>Check Accessible documents and Created by you for counts within your document access.</a:t>
            </a:r>
          </a:p>
          <a:p>
            <a:r>
              <a:t>Check Pending approvals and Outstanding handoffs for work assigned to you or your roles.</a:t>
            </a:r>
          </a:p>
          <a:p>
            <a:r>
              <a:t>Read Your document register and My request status to see document and request distributions.</a:t>
            </a:r>
          </a:p>
          <a:p>
            <a:r>
              <a:t>Use the left navigation for documents, My Requests, My Tasks, and permitted management pages; use the bell for Notifications.</a:t>
            </a:r>
          </a:p>
          <a:p>
            <a:r>
              <a:t>Notes:</a:t>
            </a:r>
          </a:p>
          <a:p>
            <a:r>
              <a:t>Dashboard numbers reflect your authorized records and work, rather than an unrestricted company-wide total.</a:t>
            </a:r>
          </a:p>
          <a:p>
            <a:r>
              <a:t>Additional menus appear only when your account has the corresponding permissions.</a:t>
            </a:r>
          </a:p>
          <a:p>
            <a:r>
              <a:t>Source references:</a:t>
            </a:r>
          </a:p>
          <a:p>
            <a:r>
              <a:t>application/view/pages/dashboard/index.php:39</a:t>
            </a:r>
          </a:p>
          <a:p>
            <a:r>
              <a:t>application/view/pages/dashboard/index.php:62</a:t>
            </a:r>
          </a:p>
          <a:p>
            <a:r>
              <a:t>application/view/pages/dashboard/index.php:97</a:t>
            </a:r>
          </a:p>
          <a:p>
            <a:r>
              <a:t>application/view/layout/sidebar_top_nav.php:63</a:t>
            </a:r>
          </a:p>
          <a:p>
            <a:r>
              <a:t>application/view/layout/sidebar_top_nav.php:259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documents/hardcopy / documents/softcopy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Hardcopy Documents or Softcopy Documents and choose Table or Folder.</a:t>
            </a:r>
          </a:p>
          <a:p>
            <a:r>
              <a:t>Use Search records, status, owner, and date filters. Select Clear to remove filters.</a:t>
            </a:r>
          </a:p>
          <a:p>
            <a:r>
              <a:t>Expand hardcopy Area → Specific → optional Asset → Location, or softcopy category folders. Use breadcrumbs and All Documents to change scope.</a:t>
            </a:r>
          </a:p>
          <a:p>
            <a:r>
              <a:t>Open a document title or View action for full details, related requests, approval history, and applicable file or transfer history.</a:t>
            </a:r>
          </a:p>
          <a:p>
            <a:r>
              <a:t>Use Rows per page, page arrows, and Recent / A–Z / Z–A ordering to browse long lists.</a:t>
            </a:r>
          </a:p>
          <a:p>
            <a:r>
              <a:t>Notes:</a:t>
            </a:r>
          </a:p>
          <a:p>
            <a:r>
              <a:t>Hardcopy table columns include Document Title, Location, Holder, and Status. Softcopy columns include Document Title, Document Number, Category, and Status.</a:t>
            </a:r>
          </a:p>
          <a:p>
            <a:r>
              <a:t>Only authorized folders and records are available. Status filters include Active, Disposed, and Cancelled.</a:t>
            </a:r>
          </a:p>
          <a:p>
            <a:r>
              <a:t>Source references:</a:t>
            </a:r>
          </a:p>
          <a:p>
            <a:r>
              <a:t>application/view/pages/documents/shared_index.php:11</a:t>
            </a:r>
          </a:p>
          <a:p>
            <a:r>
              <a:t>application/view/pages/documents/shared_index.php:124</a:t>
            </a:r>
          </a:p>
          <a:p>
            <a:r>
              <a:t>application/view/pages/documents/shared_index.php:149</a:t>
            </a:r>
          </a:p>
          <a:p>
            <a:r>
              <a:t>application/view/reusable_components/reusable_datatable.php:31</a:t>
            </a:r>
          </a:p>
          <a:p>
            <a:r>
              <a:t>application/view/reusable_components/document_folder_list.php:167</a:t>
            </a:r>
          </a:p>
          <a:p>
            <a:r>
              <a:t>application/models/Document_detail_model.php:124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Softcopy Documents and find the permitted active record.</a:t>
            </a:r>
          </a:p>
          <a:p>
            <a:r>
              <a:t>Select File History to inspect its available revision files.</a:t>
            </a:r>
          </a:p>
          <a:p>
            <a:r>
              <a:t>Select Download for an authorized copy of the current approved file.</a:t>
            </a:r>
          </a:p>
          <a:p>
            <a:r>
              <a:t>Select Print to open the controlled print preview.</a:t>
            </a:r>
          </a:p>
          <a:p>
            <a:r>
              <a:t>Notes:</a:t>
            </a:r>
          </a:p>
          <a:p>
            <a:r>
              <a:t>Available file actions depend on your permissions and document access.</a:t>
            </a:r>
          </a:p>
          <a:p>
            <a:r>
              <a:t>Source references:</a:t>
            </a:r>
          </a:p>
          <a:p>
            <a:r>
              <a:t>application/models/File_model.php:7</a:t>
            </a:r>
          </a:p>
          <a:p>
            <a:r>
              <a:t>application/view/reusable_components/record_actions.php:63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File History on the intended softcopy record.</a:t>
            </a:r>
          </a:p>
          <a:p>
            <a:r>
              <a:t>Read the revision details and identify the current file.</a:t>
            </a:r>
          </a:p>
          <a:p>
            <a:r>
              <a:t>Use available Download or Print actions for files within your access.</a:t>
            </a:r>
          </a:p>
          <a:p>
            <a:r>
              <a:t>Select Close to return to the document register.</a:t>
            </a:r>
          </a:p>
          <a:p>
            <a:r>
              <a:t>Notes:</a:t>
            </a:r>
          </a:p>
          <a:p>
            <a:r>
              <a:t>Historical revision metadata can remain after retired file bytes are cleaned up.</a:t>
            </a:r>
          </a:p>
          <a:p>
            <a:r>
              <a:t>Source references:</a:t>
            </a:r>
          </a:p>
          <a:p>
            <a:r>
              <a:t>application/view/pages/documents/shared_index.php:238</a:t>
            </a:r>
          </a:p>
          <a:p>
            <a:r>
              <a:t>application/models/File_model.php:7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Print from the authorized document file action.</a:t>
            </a:r>
          </a:p>
          <a:p>
            <a:r>
              <a:t>Wait for the PDF, image or text preview to prepare.</a:t>
            </a:r>
          </a:p>
          <a:p>
            <a:r>
              <a:t>Select Print when ready, then complete your browser's print dialog.</a:t>
            </a:r>
          </a:p>
          <a:p>
            <a:r>
              <a:t>Use Download when you need a permitted local copy.</a:t>
            </a:r>
          </a:p>
          <a:p>
            <a:r>
              <a:t>Notes:</a:t>
            </a:r>
          </a:p>
          <a:p>
            <a:r>
              <a:t>Office files use the downloaded file and an installed Office application for printing.</a:t>
            </a:r>
          </a:p>
          <a:p>
            <a:r>
              <a:t>Source references:</a:t>
            </a:r>
          </a:p>
          <a:p>
            <a:r>
              <a:t>application/view/pages/files/print.php:15</a:t>
            </a:r>
          </a:p>
          <a:p>
            <a:r>
              <a:t>application/controllers/Files.php:80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the appropriate My Requests tab and select New Request; complete the action-specific fields.</a:t>
            </a:r>
          </a:p>
          <a:p>
            <a:r>
              <a:t>Save Draft → Confirm records the proposal. Open View to inspect metadata, any attachment, and its approval timeline.</a:t>
            </a:r>
          </a:p>
          <a:p>
            <a:r>
              <a:t>Select Submit → Confirm when ready. Submitted means the published approval workflow has started.</a:t>
            </a:r>
          </a:p>
          <a:p>
            <a:r>
              <a:t>For a request Returned to you, read the remarks, Edit, save, and Submit again.</a:t>
            </a:r>
          </a:p>
          <a:p>
            <a:r>
              <a:t>Cancel an unwanted Draft. Delete is permanent and is offered only for your cancelled, never-submitted draft.</a:t>
            </a:r>
          </a:p>
          <a:p>
            <a:r>
              <a:t>Notes:</a:t>
            </a:r>
          </a:p>
          <a:p>
            <a:r>
              <a:t>Statuses shown by the request filter are Draft, Submitted, Completed, Approved, Rejected, Returned, and Cancelled. Approved transfers still need the physical handoff steps.</a:t>
            </a:r>
          </a:p>
          <a:p>
            <a:r>
              <a:t>Only the requester may edit their own draft or returned request. Submitted requests are not editable drafts.</a:t>
            </a:r>
          </a:p>
          <a:p>
            <a:r>
              <a:t>A published workflow must be available. Resubmitting a returned request keeps its original workflow version.</a:t>
            </a:r>
          </a:p>
          <a:p>
            <a:r>
              <a:t>Source references:</a:t>
            </a:r>
          </a:p>
          <a:p>
            <a:r>
              <a:t>application/view/pages/request/shared_index.php:4</a:t>
            </a:r>
          </a:p>
          <a:p>
            <a:r>
              <a:t>application/view/pages/request/shared_index.php:206</a:t>
            </a:r>
          </a:p>
          <a:p>
            <a:r>
              <a:t>application/view/pages/request/shared_index.php:285</a:t>
            </a:r>
          </a:p>
          <a:p>
            <a:r>
              <a:t>application/services/request/request_policy.php:4</a:t>
            </a:r>
          </a:p>
          <a:p>
            <a:r>
              <a:t>application/services/request/request_service.php:462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Save Draft records your proposal without starting approval.</a:t>
            </a:r>
          </a:p>
          <a:p>
            <a:r>
              <a:t>Back in the request list, select Submit for the intended draft.</a:t>
            </a:r>
          </a:p>
          <a:p>
            <a:r>
              <a:t>Read the request confirmation and select Confirm to start the approval workflow.</a:t>
            </a:r>
          </a:p>
          <a:p>
            <a:r>
              <a:t>Check the request becomes Submitted, then inspect its Approval Process Timeline.</a:t>
            </a:r>
          </a:p>
          <a:p>
            <a:r>
              <a:t>Notes:</a:t>
            </a:r>
          </a:p>
          <a:p>
            <a:r>
              <a:t>Submit uses the shared Confirm dialog; it does not ask for an approval remark.</a:t>
            </a:r>
          </a:p>
          <a:p>
            <a:r>
              <a:t>Source references:</a:t>
            </a:r>
          </a:p>
          <a:p>
            <a:r>
              <a:t>public/assets/js/row-actions.js:19</a:t>
            </a:r>
          </a:p>
          <a:p>
            <a:r>
              <a:t>application/controllers/Requests.php:134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Create Softcopy and enter Subject / Reason.</a:t>
            </a:r>
          </a:p>
          <a:p>
            <a:r>
              <a:t>Enter the proposed title, Document Number, optional Series Number, and Category.</a:t>
            </a:r>
          </a:p>
          <a:p>
            <a:r>
              <a:t>Attach the Document File, add Remarks if needed, and select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application/view/pages/request/softcopy_fields.php:8</a:t>
            </a:r>
          </a:p>
          <a:p>
            <a:r>
              <a:t>application/view/pages/request/softcopy_fields.php:31</a:t>
            </a:r>
          </a:p>
          <a:p>
            <a:r>
              <a:t>application/view/pages/request/softcopy_fields.php:68</a:t>
            </a:r>
          </a:p>
          <a:p>
            <a:r>
              <a:t>public/assets/js/app.js:661</a:t>
            </a:r>
          </a:p>
          <a:p>
            <a:r>
              <a:t>application/view/pages/request/shared_index.php:337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new controlled softcopy appears in Softcopy Documents after final approval.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application/view/pages/request/softcopy_fields.php:8</a:t>
            </a:r>
          </a:p>
          <a:p>
            <a:r>
              <a:t>application/view/pages/request/softcopy_fields.php:31</a:t>
            </a:r>
          </a:p>
          <a:p>
            <a:r>
              <a:t>application/view/pages/request/softcopy_fields.php:68</a:t>
            </a:r>
          </a:p>
          <a:p>
            <a:r>
              <a:t>public/assets/js/app.js:661</a:t>
            </a:r>
          </a:p>
          <a:p>
            <a:r>
              <a:t>application/view/pages/request/shared_index.php:337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Revise Softcopy and select the Existing Softcopy Document.</a:t>
            </a:r>
          </a:p>
          <a:p>
            <a:r>
              <a:t>Check the proposed title; enter New Revision Level and Number of Pages.</a:t>
            </a:r>
          </a:p>
          <a:p>
            <a:r>
              <a:t>Choose an optional Effective Date, attach the revised file, then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revision becomes the current controlled file; check the revision and file history.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Cancel Softcopy and select the Existing Softcopy Document.</a:t>
            </a:r>
          </a:p>
          <a:p>
            <a:r>
              <a:t>Enter Subject / Reason and any Remarks explaining the cancellation.</a:t>
            </a:r>
          </a:p>
          <a:p>
            <a:r>
              <a:t>Save Draft, check the selected record, and submit the proposal.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controlled softcopy is cancelled after final approval; use the Cancelled status filter to inspect it.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Create and enter Subject / Reason and Document Title.</a:t>
            </a:r>
          </a:p>
          <a:p>
            <a:r>
              <a:t>Select Area, Specific, optional Asset, Location, and check Current Holder.</a:t>
            </a:r>
          </a:p>
          <a:p>
            <a:r>
              <a:t>Optionally enable retention monitoring, then enter both Start and End dates (End on/after Start). Add notes and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new hardcopy record appears with its approved storage hierarchy and holder.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Update and select the Existing Hardcopy Document.</a:t>
            </a:r>
          </a:p>
          <a:p>
            <a:r>
              <a:t>Check Document Title, Area, Specific, optional Asset, Location, and Current Holder.</a:t>
            </a:r>
          </a:p>
          <a:p>
            <a:r>
              <a:t>Update the intended metadata or retention information, then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hardcopy metadata is applied; inspect the changed storage or retention fields.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my-requests/access-grant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Document Access Grants and enter Subject.</a:t>
            </a:r>
          </a:p>
          <a:p>
            <a:r>
              <a:t>Choose Document Type, select the document, and check your read-only Recipient field.</a:t>
            </a:r>
          </a:p>
          <a:p>
            <a:r>
              <a:t>Set Access Expires At, add optional Remarks, then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my-requests/access-grant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access grant applies to the selected document and the signed-in recipient until its expiry.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my-requests/document-assign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Document Assignments and enter Subject.</a:t>
            </a:r>
          </a:p>
          <a:p>
            <a:r>
              <a:t>Choose Document Type and select the document to be assigned to you.</a:t>
            </a:r>
          </a:p>
          <a:p>
            <a:r>
              <a:t>Check your read-only Recipient / Assigned User, add optional Remarks, then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my-requests/document-assign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assignment applies to the selected document and signed-in recipient.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my-requests/hardcopy-transfer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Select the Hardcopy Document and check Original Places and Holder.</a:t>
            </a:r>
          </a:p>
          <a:p>
            <a:r>
              <a:t>Choose the destination hierarchy and Receiving User; destination must differ from the original.</a:t>
            </a:r>
          </a:p>
          <a:p>
            <a:r>
              <a:t>Enter Request Subject and optional Remarks, then Save Draft.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application/view/pages/request/hardcopy_transfer_fields.php:5</a:t>
            </a:r>
          </a:p>
          <a:p>
            <a:r>
              <a:t>application/view/pages/request/hardcopy_transfer_fields.php:17</a:t>
            </a:r>
          </a:p>
          <a:p>
            <a:r>
              <a:t>application/view/pages/request/hardcopy_transfer_fields.php:30</a:t>
            </a:r>
          </a:p>
          <a:p>
            <a:r>
              <a:t>application/view/pages/request/hardcopy_transfer_fields.php:54</a:t>
            </a:r>
          </a:p>
          <a:p>
            <a:r>
              <a:t>application/controllers/Requests.php:87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my-requests/hardcopy-transfer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Approval creates the handoff work. Complete Dispatch and recipient Accept before treating the physical transfer as received. The captured request status is Approved.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application/view/pages/request/hardcopy_transfer_fields.php:5</a:t>
            </a:r>
          </a:p>
          <a:p>
            <a:r>
              <a:t>application/view/pages/request/hardcopy_transfer_fields.php:17</a:t>
            </a:r>
          </a:p>
          <a:p>
            <a:r>
              <a:t>application/view/pages/request/hardcopy_transfer_fields.php:30</a:t>
            </a:r>
          </a:p>
          <a:p>
            <a:r>
              <a:t>application/view/pages/request/hardcopy_transfer_fields.php:54</a:t>
            </a:r>
          </a:p>
          <a:p>
            <a:r>
              <a:t>application/controllers/Requests.php:87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my-requests/hardcopy-disposal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Choose Hardcopy Disposal, enter Subject / Reason, and select the document.</a:t>
            </a:r>
          </a:p>
          <a:p>
            <a:r>
              <a:t>Choose Disposal Reason: Shred, Scratch, or Other. Complete Other Reason if selected.</a:t>
            </a:r>
          </a:p>
          <a:p>
            <a:r>
              <a:t>Add optional Remarks, Save Draft, then review and submit the proposal.</a:t>
            </a:r>
          </a:p>
          <a:p>
            <a:r>
              <a:t>Notes:</a:t>
            </a:r>
          </a:p>
          <a:p>
            <a:r>
              <a:t>Synthetic example. Save Draft first, then Submit after checking the proposal.</a:t>
            </a:r>
          </a:p>
          <a:p>
            <a:r>
              <a:t>Source references:</a:t>
            </a:r>
          </a:p>
          <a:p>
            <a:r>
              <a:t>application/view/pages/request/shared_index.php:389</a:t>
            </a:r>
          </a:p>
          <a:p>
            <a:r>
              <a:t>application/view/pages/request/disposal_fields.php:6</a:t>
            </a:r>
          </a:p>
          <a:p>
            <a:r>
              <a:t>public/assets/js/app.js:774</a:t>
            </a:r>
          </a:p>
          <a:p>
            <a:r>
              <a:t>application/view/pages/documents/shared_index.php:84</a:t>
            </a:r>
          </a:p>
          <a:p>
            <a:r>
              <a:t>application/models/Document_detail_model.php:200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my-requests/hardcopy-disposal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record becomes Disposed; inspect Disposal Details and the selected reason in the document register. The captured request status is Completed.</a:t>
            </a:r>
          </a:p>
          <a:p>
            <a:r>
              <a:t>Notes:</a:t>
            </a:r>
          </a:p>
          <a:p>
            <a:r>
              <a:t>The screenshot shows the demonstrated result in the isolated sample workspace.</a:t>
            </a:r>
          </a:p>
          <a:p>
            <a:r>
              <a:t>Source references:</a:t>
            </a:r>
          </a:p>
          <a:p>
            <a:r>
              <a:t>application/view/pages/request/shared_index.php:389</a:t>
            </a:r>
          </a:p>
          <a:p>
            <a:r>
              <a:t>application/view/pages/request/disposal_fields.php:6</a:t>
            </a:r>
          </a:p>
          <a:p>
            <a:r>
              <a:t>public/assets/js/app.js:774</a:t>
            </a:r>
          </a:p>
          <a:p>
            <a:r>
              <a:t>application/view/pages/documents/shared_index.php:84</a:t>
            </a:r>
          </a:p>
          <a:p>
            <a:r>
              <a:t>application/models/Document_detail_model.php:200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my-tasks/softcopy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My Tasks, choose a category, and open the assigned request's View details.</a:t>
            </a:r>
          </a:p>
          <a:p>
            <a:r>
              <a:t>Read the proposal, Approval Process Timeline, and Workflow Activity Log; use Review File for an attached softcopy.</a:t>
            </a:r>
          </a:p>
          <a:p>
            <a:r>
              <a:t>Choose Approve → Confirm to move the current step forward.</a:t>
            </a:r>
          </a:p>
          <a:p>
            <a:r>
              <a:t>Choose Return or Reject, enter an optional Remark, then Continue to record the decision.</a:t>
            </a:r>
          </a:p>
          <a:p>
            <a:r>
              <a:t>Inspect the updated timeline. Return at step one sends to the requester; later-step Return reactivates the previous approver.</a:t>
            </a:r>
          </a:p>
          <a:p>
            <a:r>
              <a:t>Notes:</a:t>
            </a:r>
          </a:p>
          <a:p>
            <a:r>
              <a:t>Only the currently assigned approver, or an authorized member of the assigned role, may decide.</a:t>
            </a:r>
          </a:p>
          <a:p>
            <a:r>
              <a:t>Return at the first approval step sends the request to its requester for correction. Return at a later step reactivates the immediately previous approver; it does not always send the request to the requester.</a:t>
            </a:r>
          </a:p>
          <a:p>
            <a:r>
              <a:t>Review File opens the proposal for inspection; use the task's decision buttons to record approval.</a:t>
            </a:r>
          </a:p>
          <a:p>
            <a:r>
              <a:t>Source references:</a:t>
            </a:r>
          </a:p>
          <a:p>
            <a:r>
              <a:t>application/view/pages/request/shared_index.php:235</a:t>
            </a:r>
          </a:p>
          <a:p>
            <a:r>
              <a:t>application/view/layout/footer.php:118</a:t>
            </a:r>
          </a:p>
          <a:p>
            <a:r>
              <a:t>application/view/pages/files/review.php:11</a:t>
            </a:r>
          </a:p>
          <a:p>
            <a:r>
              <a:t>application/services/request/request_service.php:739</a:t>
            </a:r>
          </a:p>
          <a:p>
            <a:r>
              <a:t>application/services/request/request_service.php:792</a:t>
            </a:r>
          </a:p>
          <a:p>
            <a:r>
              <a:t>public/assets/js/row-actions.js:19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assigned request in My Tasks and inspect the proposal and file.</a:t>
            </a:r>
          </a:p>
          <a:p>
            <a:r>
              <a:t>Select Approve for the active task.</a:t>
            </a:r>
          </a:p>
          <a:p>
            <a:r>
              <a:t>Read the shared confirmation and select Confirm.</a:t>
            </a:r>
          </a:p>
          <a:p>
            <a:r>
              <a:t>Check the next step or completed result in the Approval Process Timeline.</a:t>
            </a:r>
          </a:p>
          <a:p>
            <a:r>
              <a:t>Notes:</a:t>
            </a:r>
          </a:p>
          <a:p>
            <a:r>
              <a:t>Approve uses Confirm directly. It does not open a remark form.</a:t>
            </a:r>
          </a:p>
          <a:p>
            <a:r>
              <a:t>Source references:</a:t>
            </a:r>
          </a:p>
          <a:p>
            <a:r>
              <a:t>public/assets/js/row-actions.js:19</a:t>
            </a:r>
          </a:p>
          <a:p>
            <a:r>
              <a:t>application/services/request/request_service.php:764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At the first active step, select Return.</a:t>
            </a:r>
          </a:p>
          <a:p>
            <a:r>
              <a:t>Enter an optional Remark explaining what needs attention.</a:t>
            </a:r>
          </a:p>
          <a:p>
            <a:r>
              <a:t>Select Continue. This records the Return decision.</a:t>
            </a:r>
          </a:p>
          <a:p>
            <a:r>
              <a:t>The request becomes Returned to its requester, who may edit, save, and resubmit it.</a:t>
            </a:r>
          </a:p>
          <a:p>
            <a:r>
              <a:t>Notes:</a:t>
            </a:r>
          </a:p>
          <a:p>
            <a:r>
              <a:t>Continue in the Return dialog is the confirmation; no second Confirm dialog follows.</a:t>
            </a:r>
          </a:p>
          <a:p>
            <a:r>
              <a:t>Source references:</a:t>
            </a:r>
          </a:p>
          <a:p>
            <a:r>
              <a:t>public/assets/js/row-actions.js:42</a:t>
            </a:r>
          </a:p>
          <a:p>
            <a:r>
              <a:t>application/services/request/request_service.php:792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Select Return when an earlier review needs to be reconsidered.</a:t>
            </a:r>
          </a:p>
          <a:p>
            <a:r>
              <a:t>Add an optional Remark and select Continue.</a:t>
            </a:r>
          </a:p>
          <a:p>
            <a:r>
              <a:t>The immediately previous approver becomes active again.</a:t>
            </a:r>
          </a:p>
          <a:p>
            <a:r>
              <a:t>After that approver approves again, the request returns to the step that returned it.</a:t>
            </a:r>
          </a:p>
          <a:p>
            <a:r>
              <a:t>Notes:</a:t>
            </a:r>
          </a:p>
          <a:p>
            <a:r>
              <a:t>A later-step Return keeps the request Submitted; it does not send an editable draft to the requester.</a:t>
            </a:r>
          </a:p>
          <a:p>
            <a:r>
              <a:t>Source references:</a:t>
            </a:r>
          </a:p>
          <a:p>
            <a:r>
              <a:t>application/services/request/request_service.php:799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Review the proposal and choose Reject when it should stop.</a:t>
            </a:r>
          </a:p>
          <a:p>
            <a:r>
              <a:t>Enter an optional Remark that explains the decision.</a:t>
            </a:r>
          </a:p>
          <a:p>
            <a:r>
              <a:t>Select Continue to record the rejection.</a:t>
            </a:r>
          </a:p>
          <a:p>
            <a:r>
              <a:t>Check Rejected in the request status and read the decision in the activity log.</a:t>
            </a:r>
          </a:p>
          <a:p>
            <a:r>
              <a:t>Notes:</a:t>
            </a:r>
          </a:p>
          <a:p>
            <a:r>
              <a:t>Rejected proposals are not completed document changes and are not editable returned drafts.</a:t>
            </a:r>
          </a:p>
          <a:p>
            <a:r>
              <a:t>Source references:</a:t>
            </a:r>
          </a:p>
          <a:p>
            <a:r>
              <a:t>public/assets/js/row-actions.js:19</a:t>
            </a:r>
          </a:p>
          <a:p>
            <a:r>
              <a:t>application/services/request/request_service.php:820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your own Draft in My Requests and select Cancel.</a:t>
            </a:r>
          </a:p>
          <a:p>
            <a:r>
              <a:t>Confirm the cancellation and check the Cancelled status.</a:t>
            </a:r>
          </a:p>
          <a:p>
            <a:r>
              <a:t>If Delete is offered, check that this is the draft you intend to remove permanently.</a:t>
            </a:r>
          </a:p>
          <a:p>
            <a:r>
              <a:t>Select Delete and confirm. Only your cancelled, never-submitted draft is eligible.</a:t>
            </a:r>
          </a:p>
          <a:p>
            <a:r>
              <a:t>Notes:</a:t>
            </a:r>
          </a:p>
          <a:p>
            <a:r>
              <a:t>Permanent draft deletion cannot be undone. It is not an operation on an approved document.</a:t>
            </a:r>
          </a:p>
          <a:p>
            <a:r>
              <a:t>Source references:</a:t>
            </a:r>
          </a:p>
          <a:p>
            <a:r>
              <a:t>application/services/request/request_policy.php:4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my-tasks/hardcopy-transfer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My Tasks → Hardcopy Transfer and find Physical Transfer Handoffs.</a:t>
            </a:r>
          </a:p>
          <a:p>
            <a:r>
              <a:t>Check the document, requester, current holder, recipient, and stage.</a:t>
            </a:r>
          </a:p>
          <a:p>
            <a:r>
              <a:t>The requester selects Dispatch at physical release, then Confirm.</a:t>
            </a:r>
          </a:p>
          <a:p>
            <a:r>
              <a:t>After physical receipt, the recipient selects Accept for the In Transit handoff, then Confirm.</a:t>
            </a:r>
          </a:p>
          <a:p>
            <a:r>
              <a:t>Inspect the updated holder, location, and Transfer History in Hardcopy Documents.</a:t>
            </a:r>
          </a:p>
          <a:p>
            <a:r>
              <a:t>Notes:</a:t>
            </a:r>
          </a:p>
          <a:p>
            <a:r>
              <a:t>Only the transfer requester can dispatch. Only the destination recipient can accept.</a:t>
            </a:r>
          </a:p>
          <a:p>
            <a:r>
              <a:t>Accept confirms physical receipt and updates custody and location. Record these actions when the physical handoff actually occurs.</a:t>
            </a:r>
          </a:p>
          <a:p>
            <a:r>
              <a:t>Users may receive dispatch or receipt tasks even when they are not general workflow approvers.</a:t>
            </a:r>
          </a:p>
          <a:p>
            <a:r>
              <a:t>Source references:</a:t>
            </a:r>
          </a:p>
          <a:p>
            <a:r>
              <a:t>application/view/pages/request/shared_index.php:519</a:t>
            </a:r>
          </a:p>
          <a:p>
            <a:r>
              <a:t>application/view/pages/request/shared_index.php:556</a:t>
            </a:r>
          </a:p>
          <a:p>
            <a:r>
              <a:t>application/controllers/Requests.php:169</a:t>
            </a:r>
          </a:p>
          <a:p>
            <a:r>
              <a:t>application/controllers/Requests.php:184</a:t>
            </a:r>
          </a:p>
          <a:p>
            <a:r>
              <a:t>application/models/Document_detail_model.php:223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After approval, open My Tasks → Hardcopy Transfer.</a:t>
            </a:r>
          </a:p>
          <a:p>
            <a:r>
              <a:t>The requester locates the intended Physical Transfer Handoff.</a:t>
            </a:r>
          </a:p>
          <a:p>
            <a:r>
              <a:t>Select Dispatch at physical release, then select Confirm.</a:t>
            </a:r>
          </a:p>
          <a:p>
            <a:r>
              <a:t>Check that the handoff awaits the receiving user's acceptance.</a:t>
            </a:r>
          </a:p>
          <a:p>
            <a:r>
              <a:t>Notes:</a:t>
            </a:r>
          </a:p>
          <a:p>
            <a:r>
              <a:t>Only the transfer requester can dispatch.</a:t>
            </a:r>
          </a:p>
          <a:p>
            <a:r>
              <a:t>Source references:</a:t>
            </a:r>
          </a:p>
          <a:p>
            <a:r>
              <a:t>application/controllers/Requests.php:169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The receiving user opens the in-transit handoff.</a:t>
            </a:r>
          </a:p>
          <a:p>
            <a:r>
              <a:t>After checking the physical record, select Accept → Confirm.</a:t>
            </a:r>
          </a:p>
          <a:p>
            <a:r>
              <a:t>Inspect the updated holder and location in Hardcopy Documents.</a:t>
            </a:r>
          </a:p>
          <a:p>
            <a:r>
              <a:t>Use Transfer History when confirming the recorded handoff.</a:t>
            </a:r>
          </a:p>
          <a:p>
            <a:r>
              <a:t>Notes:</a:t>
            </a:r>
          </a:p>
          <a:p>
            <a:r>
              <a:t>The receiving user's acceptance completes physical receipt and updates custody.</a:t>
            </a:r>
          </a:p>
          <a:p>
            <a:r>
              <a:t>Source references:</a:t>
            </a:r>
          </a:p>
          <a:p>
            <a:r>
              <a:t>application/controllers/Requests.php:184</a:t>
            </a:r>
          </a:p>
          <a:p>
            <a:r>
              <a:t>application/models/Document_detail_model.php:223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top navigation / my-tasks/softcopy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bell to read Notifications and their Request Reference, title, and approval label.</a:t>
            </a:r>
          </a:p>
          <a:p>
            <a:r>
              <a:t>Select an entry to mark that notification read and open the matching My Tasks list.</a:t>
            </a:r>
          </a:p>
          <a:p>
            <a:r>
              <a:t>Use Previous, Next, and Rows for additional notification pages.</a:t>
            </a:r>
          </a:p>
          <a:p>
            <a:r>
              <a:t>If Approval needed appears, inspect its new-task links or select Got it.</a:t>
            </a:r>
          </a:p>
          <a:p>
            <a:r>
              <a:t>Use My Tasks to record the actual decision or handoff; reading a notice does not approve it.</a:t>
            </a:r>
          </a:p>
          <a:p>
            <a:r>
              <a:t>Notes:</a:t>
            </a:r>
          </a:p>
          <a:p>
            <a:r>
              <a:t>Opening the notification panel alone does not mark every item read; selecting an entry acknowledges that notification.</a:t>
            </a:r>
          </a:p>
          <a:p>
            <a:r>
              <a:t>Reading or dismissing a notification does not approve or reject its request.</a:t>
            </a:r>
          </a:p>
          <a:p>
            <a:r>
              <a:t>No unread notifications means the inbox has no unread entries; continue to use My Tasks to check current assigned work.</a:t>
            </a:r>
          </a:p>
          <a:p>
            <a:r>
              <a:t>Source references:</a:t>
            </a:r>
          </a:p>
          <a:p>
            <a:r>
              <a:t>application/view/layout/sidebar_top_nav.php:294</a:t>
            </a:r>
          </a:p>
          <a:p>
            <a:r>
              <a:t>public/assets/js/notification-inbox.js:61</a:t>
            </a:r>
          </a:p>
          <a:p>
            <a:r>
              <a:t>public/assets/js/notification-inbox.js:85</a:t>
            </a:r>
          </a:p>
          <a:p>
            <a:r>
              <a:t>application/controllers/Notifications.php:14</a:t>
            </a:r>
          </a:p>
          <a:p>
            <a:r>
              <a:t>application/view/layout/footer.php:55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documents/hardcopy / documents/softcopy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the permitted document register. Direct actions require the corresponding direct permission.</a:t>
            </a:r>
          </a:p>
          <a:p>
            <a:r>
              <a:t>For a hardcopy, select Hardcopy Direct and complete title, storage hierarchy, holder, and optional retention or notes.</a:t>
            </a:r>
          </a:p>
          <a:p>
            <a:r>
              <a:t>Select Save Document → Confirm, then inspect the saved record.</a:t>
            </a:r>
          </a:p>
          <a:p>
            <a:r>
              <a:t>For a softcopy, choose Softcopy Direct, select the action, and complete the visible fields; Create and Revise require a file.</a:t>
            </a:r>
          </a:p>
          <a:p>
            <a:r>
              <a:t>Select Approve Directly → Confirm. Edit an active record or use Dispose with a disposal reason only when those actions are permitted.</a:t>
            </a:r>
          </a:p>
          <a:p>
            <a:r>
              <a:t>Notes:</a:t>
            </a:r>
          </a:p>
          <a:p>
            <a:r>
              <a:t>Direct softcopy actions are approved and applied immediately by the authorized operator. Use My Requests when approval through the workflow is required.</a:t>
            </a:r>
          </a:p>
          <a:p>
            <a:r>
              <a:t>Edit and Dispose require an active record within the operator's permitted scope. Dispose also requires direct disposal permission.</a:t>
            </a:r>
          </a:p>
          <a:p>
            <a:r>
              <a:t>An ordinary user's hardcopy holder is fixed to that user's account; administrators can select a holder.</a:t>
            </a:r>
          </a:p>
          <a:p>
            <a:r>
              <a:t>Source references:</a:t>
            </a:r>
          </a:p>
          <a:p>
            <a:r>
              <a:t>application/view/pages/documents/shared_index.php:5</a:t>
            </a:r>
          </a:p>
          <a:p>
            <a:r>
              <a:t>application/view/pages/documents/shared_index.php:45</a:t>
            </a:r>
          </a:p>
          <a:p>
            <a:r>
              <a:t>application/view/pages/documents/shared_index.php:134</a:t>
            </a:r>
          </a:p>
          <a:p>
            <a:r>
              <a:t>application/view/pages/documents/shared_index.php:200</a:t>
            </a:r>
          </a:p>
          <a:p>
            <a:r>
              <a:t>application/view/pages/documents/shared_index.php:227</a:t>
            </a:r>
          </a:p>
          <a:p>
            <a:r>
              <a:t>application/controllers/Documents.php:125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Softcopy Documents and select Softcopy Direct.</a:t>
            </a:r>
          </a:p>
          <a:p>
            <a:r>
              <a:t>Choose Create Softcopy, Revise Softcopy, or Cancel Softcopy.</a:t>
            </a:r>
          </a:p>
          <a:p>
            <a:r>
              <a:t>Complete the action-specific fields and attach a file for Create or Revise.</a:t>
            </a:r>
          </a:p>
          <a:p>
            <a:r>
              <a:t>Select Approve Directly, then Confirm. Inspect the resulting record.</a:t>
            </a:r>
          </a:p>
          <a:p>
            <a:r>
              <a:t>Notes:</a:t>
            </a:r>
          </a:p>
          <a:p>
            <a:r>
              <a:t>Direct actions require the appropriate permission and apply the change immediately.</a:t>
            </a:r>
          </a:p>
          <a:p>
            <a:r>
              <a:t>Source references:</a:t>
            </a:r>
          </a:p>
          <a:p>
            <a:r>
              <a:t>application/controllers/Documents.php:125</a:t>
            </a:r>
          </a:p>
          <a:p>
            <a:r>
              <a:t>application/view/pages/documents/shared_index.php:227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admin/document-assignments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Document Assignments and choose Hardcopy / Places or Softcopy / Categories.</a:t>
            </a:r>
          </a:p>
          <a:p>
            <a:r>
              <a:t>Select Assign Document, choose the document and Assigned User, then Save Assignment → Confirm.</a:t>
            </a:r>
          </a:p>
          <a:p>
            <a:r>
              <a:t>Use Edit on an assignment to change its Assigned User; check Document, Assigned To, and Updated.</a:t>
            </a:r>
          </a:p>
          <a:p>
            <a:r>
              <a:t>For a bulk hardcopy assignment, select Location and Assigned User, then Assign All → Confirm.</a:t>
            </a:r>
          </a:p>
          <a:p>
            <a:r>
              <a:t>For softcopies, select Category / Subcategory and Assigned User, then Assign All → Confirm; subcategories are included.</a:t>
            </a:r>
          </a:p>
          <a:p>
            <a:r>
              <a:t>Notes:</a:t>
            </a:r>
          </a:p>
          <a:p>
            <a:r>
              <a:t>This page applies assignments directly and requires direct assignment permission. Approval-based assignment requests remain in My Requests → Document Assignments.</a:t>
            </a:r>
          </a:p>
          <a:p>
            <a:r>
              <a:t>Read the selected location or category carefully before confirming Assign All, because it applies to multiple active records.</a:t>
            </a:r>
          </a:p>
          <a:p>
            <a:r>
              <a:t>Physical transfer requests have their own approval, dispatch, and acceptance flow.</a:t>
            </a:r>
          </a:p>
          <a:p>
            <a:r>
              <a:t>Source references:</a:t>
            </a:r>
          </a:p>
          <a:p>
            <a:r>
              <a:t>application/view/pages/administration/document_assignments.php:11</a:t>
            </a:r>
          </a:p>
          <a:p>
            <a:r>
              <a:t>application/view/pages/administration/document_assignments.php:28</a:t>
            </a:r>
          </a:p>
          <a:p>
            <a:r>
              <a:t>application/view/pages/administration/document_assignments.php:66</a:t>
            </a:r>
          </a:p>
          <a:p>
            <a:r>
              <a:t>application/view/pages/administration/document_assignments.php:171</a:t>
            </a:r>
          </a:p>
          <a:p>
            <a:r>
              <a:t>application/view/pages/user/index.php:49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places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Setup Places and choose Area, Specific, Asset, Location, or Softcopy Categories.</a:t>
            </a:r>
          </a:p>
          <a:p>
            <a:r>
              <a:t>Use Add or Edit. Maintain Area → Specific → optional Asset before selecting Location.</a:t>
            </a:r>
          </a:p>
          <a:p>
            <a:r>
              <a:t>For Location, enter Location Name, Area, Specific, optional Asset Number, and optional Sequence or Archive Date.</a:t>
            </a:r>
          </a:p>
          <a:p>
            <a:r>
              <a:t>For Softcopy Categories, enter Name, Folder, optional Description, and Parent for a subcategory.</a:t>
            </a:r>
          </a:p>
          <a:p>
            <a:r>
              <a:t>Check Active, then Save Record → Confirm. Deactivate an unused reference item to preserve its historical links.</a:t>
            </a:r>
          </a:p>
          <a:p>
            <a:r>
              <a:t>Notes:</a:t>
            </a:r>
          </a:p>
          <a:p>
            <a:r>
              <a:t>Only tabs and actions permitted for the current account are shown.</a:t>
            </a:r>
          </a:p>
          <a:p>
            <a:r>
              <a:t>A Location can be saved without an Asset Number. Keep Area and Specific consistent when choosing children.</a:t>
            </a:r>
          </a:p>
          <a:p>
            <a:r>
              <a:t>Deactivating reference data is different from disposing of a document record.</a:t>
            </a:r>
          </a:p>
          <a:p>
            <a:r>
              <a:t>Source references:</a:t>
            </a:r>
          </a:p>
          <a:p>
            <a:r>
              <a:t>application/view/pages/places/shared_index.php:95</a:t>
            </a:r>
          </a:p>
          <a:p>
            <a:r>
              <a:t>application/models/Place_model.php:5</a:t>
            </a:r>
          </a:p>
          <a:p>
            <a:r>
              <a:t>application/view/pages/places/location/modal_action/upsert.php:10</a:t>
            </a:r>
          </a:p>
          <a:p>
            <a:r>
              <a:t>application/view/pages/places/shared_index.php:137</a:t>
            </a:r>
          </a:p>
          <a:p>
            <a:r>
              <a:t>application/view/pages/places/shared_index.php:54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admin/users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User Management and select Add User or Edit an existing eligible account.</a:t>
            </a:r>
          </a:p>
          <a:p>
            <a:r>
              <a:t>Complete First Name, optional Middle Name, Last Name, Username, and Position Title.</a:t>
            </a:r>
          </a:p>
          <a:p>
            <a:r>
              <a:t>Choose Primary role and Assigned roles; select an optional Leader when the workflow needs one.</a:t>
            </a:r>
          </a:p>
          <a:p>
            <a:r>
              <a:t>Check Active account, then Save User → Confirm. New-account credentials appear once; share privately with the owner.</a:t>
            </a:r>
          </a:p>
          <a:p>
            <a:r>
              <a:t>Use Generate a new temporary password for a reset, Deactivate to disable an eligible account, or Assigned Documents to inspect assignments.</a:t>
            </a:r>
          </a:p>
          <a:p>
            <a:r>
              <a:t>Notes:</a:t>
            </a:r>
          </a:p>
          <a:p>
            <a:r>
              <a:t>The generated temporary password is displayed once after saving. The user must replace it before accessing protected modules.</a:t>
            </a:r>
          </a:p>
          <a:p>
            <a:r>
              <a:t>A Leader is optional in account data, but submission needs an active leader when the configured workflow uses Requester's leader.</a:t>
            </a:r>
          </a:p>
          <a:p>
            <a:r>
              <a:t>Account actions have permission restrictions. The interface does not offer self-deactivation, and administrator accounts have additional protection.</a:t>
            </a:r>
          </a:p>
          <a:p>
            <a:r>
              <a:t>Source references:</a:t>
            </a:r>
          </a:p>
          <a:p>
            <a:r>
              <a:t>application/view/pages/user/index.php:5</a:t>
            </a:r>
          </a:p>
          <a:p>
            <a:r>
              <a:t>application/view/pages/user/index.php:108</a:t>
            </a:r>
          </a:p>
          <a:p>
            <a:r>
              <a:t>application/view/pages/user/index.php:149</a:t>
            </a:r>
          </a:p>
          <a:p>
            <a:r>
              <a:t>application/view/pages/user/temporary_credentials.php:2</a:t>
            </a:r>
          </a:p>
          <a:p>
            <a:r>
              <a:t>application/services/request/request_service.php:501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admin/roles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Roles &amp; Permissions; search or filter to find the role.</a:t>
            </a:r>
          </a:p>
          <a:p>
            <a:r>
              <a:t>Select Add Role or Edit and enter Role Name; check Active role as appropriate.</a:t>
            </a:r>
          </a:p>
          <a:p>
            <a:r>
              <a:t>Under Module Permissions, select only the actions needed for this role.</a:t>
            </a:r>
          </a:p>
          <a:p>
            <a:r>
              <a:t>Select Save Role → Confirm, then assign the role to users in User Management.</a:t>
            </a:r>
          </a:p>
          <a:p>
            <a:r>
              <a:t>Use Deactivate or permanent Remove only when offered for an unused role, and read the confirmation carefully.</a:t>
            </a:r>
          </a:p>
          <a:p>
            <a:r>
              <a:t>Notes:</a:t>
            </a:r>
          </a:p>
          <a:p>
            <a:r>
              <a:t>Permissions control both visible menus and individual actions such as direct changes, requests, downloads, and printing.</a:t>
            </a:r>
          </a:p>
          <a:p>
            <a:r>
              <a:t>A user's assigned document access and current workflow assignment still determine which records or tasks they can act on.</a:t>
            </a:r>
          </a:p>
          <a:p>
            <a:r>
              <a:t>Deactivation and permanent removal are separate actions; read the confirmation before continuing.</a:t>
            </a:r>
          </a:p>
          <a:p>
            <a:r>
              <a:t>Source references:</a:t>
            </a:r>
          </a:p>
          <a:p>
            <a:r>
              <a:t>application/view/pages/roles_and_permission/index.php:4</a:t>
            </a:r>
          </a:p>
          <a:p>
            <a:r>
              <a:t>application/view/pages/roles_and_permission/index.php:15</a:t>
            </a:r>
          </a:p>
          <a:p>
            <a:r>
              <a:t>application/view/pages/roles_and_permission/index.php:87</a:t>
            </a:r>
          </a:p>
          <a:p>
            <a:r>
              <a:t>application/view/pages/roles_and_permission/index.php:102</a:t>
            </a:r>
          </a:p>
          <a:p>
            <a:r>
              <a:t>application/view/pages/user/index.php:122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admin/workflows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Workflow Builder, find the Request Type, and open Steps. Use Workflow Version to inspect the route.</a:t>
            </a:r>
          </a:p>
          <a:p>
            <a:r>
              <a:t>Select Start First Draft or Create Next Draft; published versions are read-only.</a:t>
            </a:r>
          </a:p>
          <a:p>
            <a:r>
              <a:t>Add Approval Step, enter its name, and select a role, specific user, Requester's leader, or Requester account; Save Step → Confirm.</a:t>
            </a:r>
          </a:p>
          <a:p>
            <a:r>
              <a:t>Edit, move, or remove draft steps until the order is correct, then Validate &amp; Publish → Confirm.</a:t>
            </a:r>
          </a:p>
          <a:p>
            <a:r>
              <a:t>Check the published default. Future requests use it; existing submitted requests keep their original approval timeline.</a:t>
            </a:r>
          </a:p>
          <a:p>
            <a:r>
              <a:t>Notes:</a:t>
            </a:r>
          </a:p>
          <a:p>
            <a:r>
              <a:t>A workflow supports up to 30 approval steps and needs an approval route before publication.</a:t>
            </a:r>
          </a:p>
          <a:p>
            <a:r>
              <a:t>Requester and Requester's leader are resolved when the request is submitted. Ensure the relevant accounts, roles, and leaders are active.</a:t>
            </a:r>
          </a:p>
          <a:p>
            <a:r>
              <a:t>Publishing changes future requests. Existing submitted requests, including returned requests that are resubmitted, retain their original approval timeline.</a:t>
            </a:r>
          </a:p>
          <a:p>
            <a:r>
              <a:t>Source references:</a:t>
            </a:r>
          </a:p>
          <a:p>
            <a:r>
              <a:t>application/view/pages/workflow_builder/index.php:5</a:t>
            </a:r>
          </a:p>
          <a:p>
            <a:r>
              <a:t>application/view/pages/workflow_builder/index.php:108</a:t>
            </a:r>
          </a:p>
          <a:p>
            <a:r>
              <a:t>application/view/pages/workflow_builder/index.php:118</a:t>
            </a:r>
          </a:p>
          <a:p>
            <a:r>
              <a:t>application/view/pages/workflow_builder/index.php:227</a:t>
            </a:r>
          </a:p>
          <a:p>
            <a:r>
              <a:t>application/view/pages/workflow_builder/index.php:275</a:t>
            </a:r>
          </a:p>
          <a:p>
            <a:r>
              <a:t>application/services/request/request_service.php:462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admin/audit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Internal Audit Trail and search for the relevant user, action, or subject.</a:t>
            </a:r>
          </a:p>
          <a:p>
            <a:r>
              <a:t>Filter All Results, Success, or Failed and choose the required date period.</a:t>
            </a:r>
          </a:p>
          <a:p>
            <a:r>
              <a:t>Read Recorded At, User, Action, Subject, and Result.</a:t>
            </a:r>
          </a:p>
          <a:p>
            <a:r>
              <a:t>Open View for Audit Event details, including User ID and recorded Details; select Close when finished.</a:t>
            </a:r>
          </a:p>
          <a:p>
            <a:r>
              <a:t>For document-specific evidence, also inspect its Approval History, Related Requests, or Transfer History.</a:t>
            </a:r>
          </a:p>
          <a:p>
            <a:r>
              <a:t>Notes:</a:t>
            </a:r>
          </a:p>
          <a:p>
            <a:r>
              <a:t>The audit page is a read-only inspection screen; it does not provide an edit or delete operation for audit events.</a:t>
            </a:r>
          </a:p>
          <a:p>
            <a:r>
              <a:t>If a warning is shown on the page, include it when reporting an investigation to the administrator.</a:t>
            </a:r>
          </a:p>
          <a:p>
            <a:r>
              <a:t>The navigation provides this Internal Audit Trail and the Overview charts. No separate Reports menu or report-export control is present in these screens.</a:t>
            </a:r>
          </a:p>
          <a:p>
            <a:r>
              <a:t>Source references:</a:t>
            </a:r>
          </a:p>
          <a:p>
            <a:r>
              <a:t>application/view/pages/administration/audit.php:3</a:t>
            </a:r>
          </a:p>
          <a:p>
            <a:r>
              <a:t>application/view/pages/administration/audit.php:17</a:t>
            </a:r>
          </a:p>
          <a:p>
            <a:r>
              <a:t>application/view/pages/administration/audit.php:40</a:t>
            </a:r>
          </a:p>
          <a:p>
            <a:r>
              <a:t>application/view/pages/administration/audit.php:50</a:t>
            </a:r>
          </a:p>
          <a:p>
            <a:r>
              <a:t>application/models/Document_detail_model.php:207</a:t>
            </a:r>
          </a:p>
          <a:p>
            <a:r>
              <a:t>application/view/layout/sidebar_top_nav.php:220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Route: admin/backups</a:t>
            </a:r>
          </a:p>
          <a:p>
            <a:r>
              <a:t>Screenshot uses synthetic demonstration records.</a:t>
            </a:r>
          </a:p>
          <a:p>
            <a:r>
              <a:t>Steps:</a:t>
            </a:r>
          </a:p>
          <a:p>
            <a:r>
              <a:t>Open Backup &amp; Restore; check readiness, the stated schedule, and Last automatic backup.</a:t>
            </a:r>
          </a:p>
          <a:p>
            <a:r>
              <a:t>Select Backup now → Confirm to create an encrypted manual backup; inspect or download the resulting archive.</a:t>
            </a:r>
          </a:p>
          <a:p>
            <a:r>
              <a:t>Use Import backup, choose Backup ZIP, then Import backup → Confirm to verify and store an existing archive.</a:t>
            </a:r>
          </a:p>
          <a:p>
            <a:r>
              <a:t>To restore, select Restore system data, choose Backup to restore, enter Your password, and type RESTORE; then Restore selected backup → Confirm.</a:t>
            </a:r>
          </a:p>
          <a:p>
            <a:r>
              <a:t>Use Clean up → Confirm to remove backup and log archives older than three months.</a:t>
            </a:r>
          </a:p>
          <a:p>
            <a:r>
              <a:t>Notes:</a:t>
            </a:r>
          </a:p>
          <a:p>
            <a:r>
              <a:t>Restore replaces live records and private files; the interface states that a recovery backup is created first. Perform it only as an authorized administrator following the organization's recovery procedure.</a:t>
            </a:r>
          </a:p>
          <a:p>
            <a:r>
              <a:t>Backup actions require edit permission and may be disabled when backup configuration or readiness checks are not satisfied.</a:t>
            </a:r>
          </a:p>
          <a:p>
            <a:r>
              <a:t>The displayed schedule and last-backup information do not by themselves prove that a future scheduled run has completed. Check the resulting archive and recorded time.</a:t>
            </a:r>
          </a:p>
          <a:p>
            <a:r>
              <a:t>Source references:</a:t>
            </a:r>
          </a:p>
          <a:p>
            <a:r>
              <a:t>application/view/pages/administration/backups.php:5</a:t>
            </a:r>
          </a:p>
          <a:p>
            <a:r>
              <a:t>application/view/pages/administration/backups.php:19</a:t>
            </a:r>
          </a:p>
          <a:p>
            <a:r>
              <a:t>application/view/pages/administration/backups.php:25</a:t>
            </a:r>
          </a:p>
          <a:p>
            <a:r>
              <a:t>application/view/pages/administration/backups.php:77</a:t>
            </a:r>
          </a:p>
          <a:p>
            <a:r>
              <a:t>application/view/pages/administration/backups.php:101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application/view/layout/sidebar_top_nav.php:4</a:t>
            </a:r>
          </a:p>
          <a:p>
            <a:r>
              <a:t>application/controllers/Documents.php:17</a:t>
            </a:r>
          </a:p>
          <a:p>
            <a:r>
              <a:t>application/controllers/Requests.php:18</a:t>
            </a:r>
          </a:p>
          <a:p>
            <a:r>
              <a:t>application/view/pages/authentication/index.php:156</a:t>
            </a:r>
          </a:p>
          <a:p>
            <a:r>
              <a:t>application/view/pages/authentication/index.php:116</a:t>
            </a:r>
          </a:p>
          <a:p>
            <a:r>
              <a:t>application/view/pages/authentication/first_login.php:8</a:t>
            </a:r>
          </a:p>
          <a:p>
            <a:r>
              <a:t>application/view/pages/authentication/password_fields.php:3</a:t>
            </a:r>
          </a:p>
          <a:p>
            <a:r>
              <a:t>application/view/layout/sidebar_top_nav.php:323</a:t>
            </a:r>
          </a:p>
          <a:p>
            <a:r>
              <a:t>application/view/layout/footer.php:183</a:t>
            </a:r>
          </a:p>
          <a:p>
            <a:r>
              <a:t>application/controllers/Auth.php:32</a:t>
            </a:r>
          </a:p>
          <a:p>
            <a:r>
              <a:t>application/view/pages/dashboard/index.php:39</a:t>
            </a:r>
          </a:p>
          <a:p>
            <a:r>
              <a:t>application/view/pages/dashboard/index.php:62</a:t>
            </a:r>
          </a:p>
          <a:p>
            <a:r>
              <a:t>application/view/pages/dashboard/index.php:97</a:t>
            </a:r>
          </a:p>
          <a:p>
            <a:r>
              <a:t>application/view/layout/sidebar_top_nav.php:63</a:t>
            </a:r>
          </a:p>
          <a:p>
            <a:r>
              <a:t>application/view/layout/sidebar_top_nav.php:259</a:t>
            </a:r>
          </a:p>
          <a:p>
            <a:r>
              <a:t>application/view/pages/documents/shared_index.php:11</a:t>
            </a:r>
          </a:p>
          <a:p>
            <a:r>
              <a:t>application/view/pages/documents/shared_index.php:124</a:t>
            </a:r>
          </a:p>
          <a:p>
            <a:r>
              <a:t>application/view/pages/documents/shared_index.php:149</a:t>
            </a:r>
          </a:p>
          <a:p>
            <a:r>
              <a:t>application/view/reusable_components/reusable_datatable.php:31</a:t>
            </a:r>
          </a:p>
          <a:p>
            <a:r>
              <a:t>application/view/reusable_components/document_folder_list.php:167</a:t>
            </a:r>
          </a:p>
          <a:p>
            <a:r>
              <a:t>application/models/Document_detail_model.php:124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  <a:p>
            <a:r>
              <a:t>application/view/pages/request/softcopy_fields.php:8</a:t>
            </a:r>
          </a:p>
          <a:p>
            <a:r>
              <a:t>application/view/pages/request/softcopy_fields.php:31</a:t>
            </a:r>
          </a:p>
          <a:p>
            <a:r>
              <a:t>application/view/pages/request/softcopy_fields.php:68</a:t>
            </a:r>
          </a:p>
          <a:p>
            <a:r>
              <a:t>public/assets/js/app.js:661</a:t>
            </a:r>
          </a:p>
          <a:p>
            <a:r>
              <a:t>application/view/pages/request/shared_index.php:337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  <a:p>
            <a:r>
              <a:t>application/view/pages/request/shared_index.php:4</a:t>
            </a:r>
          </a:p>
          <a:p>
            <a:r>
              <a:t>application/view/pages/request/shared_index.php:206</a:t>
            </a:r>
          </a:p>
          <a:p>
            <a:r>
              <a:t>application/view/pages/request/shared_index.php:285</a:t>
            </a:r>
          </a:p>
          <a:p>
            <a:r>
              <a:t>application/services/request/request_policy.php:4</a:t>
            </a:r>
          </a:p>
          <a:p>
            <a:r>
              <a:t>application/services/request/request_service.php:462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  <a:p>
            <a:r>
              <a:t>application/view/pages/request/hardcopy_transfer_fields.php:5</a:t>
            </a:r>
          </a:p>
          <a:p>
            <a:r>
              <a:t>application/view/pages/request/hardcopy_transfer_fields.php:17</a:t>
            </a:r>
          </a:p>
          <a:p>
            <a:r>
              <a:t>application/view/pages/request/hardcopy_transfer_fields.php:30</a:t>
            </a:r>
          </a:p>
          <a:p>
            <a:r>
              <a:t>application/view/pages/request/hardcopy_transfer_fields.php:54</a:t>
            </a:r>
          </a:p>
          <a:p>
            <a:r>
              <a:t>application/controllers/Requests.php:87</a:t>
            </a:r>
          </a:p>
          <a:p>
            <a:r>
              <a:t>application/view/pages/request/shared_index.php:519</a:t>
            </a:r>
          </a:p>
          <a:p>
            <a:r>
              <a:t>application/view/pages/request/shared_index.php:556</a:t>
            </a:r>
          </a:p>
          <a:p>
            <a:r>
              <a:t>application/controllers/Requests.php:169</a:t>
            </a:r>
          </a:p>
          <a:p>
            <a:r>
              <a:t>application/controllers/Requests.php:184</a:t>
            </a:r>
          </a:p>
          <a:p>
            <a:r>
              <a:t>application/models/Document_detail_model.php:223</a:t>
            </a:r>
          </a:p>
          <a:p>
            <a:r>
              <a:t>application/view/pages/request/shared_index.php:389</a:t>
            </a:r>
          </a:p>
          <a:p>
            <a:r>
              <a:t>application/view/pages/request/disposal_fields.php:6</a:t>
            </a:r>
          </a:p>
          <a:p>
            <a:r>
              <a:t>public/assets/js/app.js:774</a:t>
            </a:r>
          </a:p>
          <a:p>
            <a:r>
              <a:t>application/view/pages/documents/shared_index.php:84</a:t>
            </a:r>
          </a:p>
          <a:p>
            <a:r>
              <a:t>application/models/Document_detail_model.php:200</a:t>
            </a:r>
          </a:p>
          <a:p>
            <a:r>
              <a:t>application/view/pages/request/shared_index.php:235</a:t>
            </a:r>
          </a:p>
          <a:p>
            <a:r>
              <a:t>application/view/layout/footer.php:118</a:t>
            </a:r>
          </a:p>
          <a:p>
            <a:r>
              <a:t>application/view/pages/files/review.php:11</a:t>
            </a:r>
          </a:p>
          <a:p>
            <a:r>
              <a:t>application/services/request/request_service.php:739</a:t>
            </a:r>
          </a:p>
          <a:p>
            <a:r>
              <a:t>application/services/request/request_service.php:792</a:t>
            </a:r>
          </a:p>
          <a:p>
            <a:r>
              <a:t>public/assets/js/row-actions.js:19</a:t>
            </a:r>
          </a:p>
          <a:p>
            <a:r>
              <a:t>application/view/layout/sidebar_top_nav.php:294</a:t>
            </a:r>
          </a:p>
          <a:p>
            <a:r>
              <a:t>public/assets/js/notification-inbox.js:61</a:t>
            </a:r>
          </a:p>
          <a:p>
            <a:r>
              <a:t>public/assets/js/notification-inbox.js:85</a:t>
            </a:r>
          </a:p>
          <a:p>
            <a:r>
              <a:t>application/controllers/Notifications.php:14</a:t>
            </a:r>
          </a:p>
          <a:p>
            <a:r>
              <a:t>application/view/layout/footer.php:55</a:t>
            </a:r>
          </a:p>
          <a:p>
            <a:r>
              <a:t>application/view/pages/documents/shared_index.php:5</a:t>
            </a:r>
          </a:p>
          <a:p>
            <a:r>
              <a:t>application/view/pages/documents/shared_index.php:45</a:t>
            </a:r>
          </a:p>
          <a:p>
            <a:r>
              <a:t>application/view/pages/documents/shared_index.php:134</a:t>
            </a:r>
          </a:p>
          <a:p>
            <a:r>
              <a:t>application/view/pages/documents/shared_index.php:200</a:t>
            </a:r>
          </a:p>
          <a:p>
            <a:r>
              <a:t>application/view/pages/documents/shared_index.php:227</a:t>
            </a:r>
          </a:p>
          <a:p>
            <a:r>
              <a:t>application/controllers/Documents.php:125</a:t>
            </a:r>
          </a:p>
          <a:p>
            <a:r>
              <a:t>application/view/pages/administration/document_assignments.php:11</a:t>
            </a:r>
          </a:p>
          <a:p>
            <a:r>
              <a:t>application/view/pages/administration/document_assignments.php:28</a:t>
            </a:r>
          </a:p>
          <a:p>
            <a:r>
              <a:t>application/view/pages/administration/document_assignments.php:66</a:t>
            </a:r>
          </a:p>
          <a:p>
            <a:r>
              <a:t>application/view/pages/administration/document_assignments.php:171</a:t>
            </a:r>
          </a:p>
          <a:p>
            <a:r>
              <a:t>application/view/pages/user/index.php:49</a:t>
            </a:r>
          </a:p>
          <a:p>
            <a:r>
              <a:t>application/view/pages/places/shared_index.php:95</a:t>
            </a:r>
          </a:p>
          <a:p>
            <a:r>
              <a:t>application/models/Place_model.php:5</a:t>
            </a:r>
          </a:p>
          <a:p>
            <a:r>
              <a:t>application/view/pages/places/location/modal_action/upsert.php:10</a:t>
            </a:r>
          </a:p>
          <a:p>
            <a:r>
              <a:t>application/view/pages/places/shared_index.php:137</a:t>
            </a:r>
          </a:p>
          <a:p>
            <a:r>
              <a:t>application/view/pages/places/shared_index.php:54</a:t>
            </a:r>
          </a:p>
          <a:p>
            <a:r>
              <a:t>application/view/pages/user/index.php:5</a:t>
            </a:r>
          </a:p>
          <a:p>
            <a:r>
              <a:t>application/view/pages/user/index.php:108</a:t>
            </a:r>
          </a:p>
          <a:p>
            <a:r>
              <a:t>application/view/pages/user/index.php:149</a:t>
            </a:r>
          </a:p>
          <a:p>
            <a:r>
              <a:t>application/view/pages/user/temporary_credentials.php:2</a:t>
            </a:r>
          </a:p>
          <a:p>
            <a:r>
              <a:t>application/services/request/request_service.php:501</a:t>
            </a:r>
          </a:p>
          <a:p>
            <a:r>
              <a:t>application/view/pages/roles_and_permission/index.php:4</a:t>
            </a:r>
          </a:p>
          <a:p>
            <a:r>
              <a:t>application/view/pages/roles_and_permission/index.php:15</a:t>
            </a:r>
          </a:p>
          <a:p>
            <a:r>
              <a:t>application/view/pages/roles_and_permission/index.php:87</a:t>
            </a:r>
          </a:p>
          <a:p>
            <a:r>
              <a:t>application/view/pages/roles_and_permission/index.php:102</a:t>
            </a:r>
          </a:p>
          <a:p>
            <a:r>
              <a:t>application/view/pages/user/index.php:122</a:t>
            </a:r>
          </a:p>
          <a:p>
            <a:r>
              <a:t>application/view/pages/workflow_builder/index.php:5</a:t>
            </a:r>
          </a:p>
          <a:p>
            <a:r>
              <a:t>application/view/pages/workflow_builder/index.php:108</a:t>
            </a:r>
          </a:p>
          <a:p>
            <a:r>
              <a:t>application/view/pages/workflow_builder/index.php:118</a:t>
            </a:r>
          </a:p>
          <a:p>
            <a:r>
              <a:t>application/view/pages/workflow_builder/index.php:227</a:t>
            </a:r>
          </a:p>
          <a:p>
            <a:r>
              <a:t>application/view/pages/workflow_builder/index.php:275</a:t>
            </a:r>
          </a:p>
          <a:p>
            <a:r>
              <a:t>application/view/pages/administration/audit.php:3</a:t>
            </a:r>
          </a:p>
          <a:p>
            <a:r>
              <a:t>application/view/pages/administration/audit.php:17</a:t>
            </a:r>
          </a:p>
          <a:p>
            <a:r>
              <a:t>application/view/pages/administration/audit.php:40</a:t>
            </a:r>
          </a:p>
          <a:p>
            <a:r>
              <a:t>application/view/pages/administration/audit.php:50</a:t>
            </a:r>
          </a:p>
          <a:p>
            <a:r>
              <a:t>application/models/Document_detail_model.php:207</a:t>
            </a:r>
          </a:p>
          <a:p>
            <a:r>
              <a:t>application/view/layout/sidebar_top_nav.php:220</a:t>
            </a:r>
          </a:p>
          <a:p>
            <a:r>
              <a:t>application/view/pages/administration/backups.php:5</a:t>
            </a:r>
          </a:p>
          <a:p>
            <a:r>
              <a:t>application/view/pages/administration/backups.php:19</a:t>
            </a:r>
          </a:p>
          <a:p>
            <a:r>
              <a:t>application/view/pages/administration/backups.php:25</a:t>
            </a:r>
          </a:p>
          <a:p>
            <a:r>
              <a:t>application/view/pages/administration/backups.php:77</a:t>
            </a:r>
          </a:p>
          <a:p>
            <a:r>
              <a:t>application/view/pages/administration/backups.php:101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application/view/layout/sidebar_top_nav.php:4</a:t>
            </a:r>
          </a:p>
          <a:p>
            <a:r>
              <a:t>application/controllers/Documents.php:17</a:t>
            </a:r>
          </a:p>
          <a:p>
            <a:r>
              <a:t>application/controllers/Requests.php:18</a:t>
            </a:r>
          </a:p>
          <a:p>
            <a:r>
              <a:t>application/view/pages/authentication/index.php:156</a:t>
            </a:r>
          </a:p>
          <a:p>
            <a:r>
              <a:t>application/view/pages/authentication/index.php:116</a:t>
            </a:r>
          </a:p>
          <a:p>
            <a:r>
              <a:t>application/view/pages/authentication/first_login.php:8</a:t>
            </a:r>
          </a:p>
          <a:p>
            <a:r>
              <a:t>application/view/pages/authentication/password_fields.php:3</a:t>
            </a:r>
          </a:p>
          <a:p>
            <a:r>
              <a:t>application/view/layout/sidebar_top_nav.php:323</a:t>
            </a:r>
          </a:p>
          <a:p>
            <a:r>
              <a:t>application/view/layout/footer.php:183</a:t>
            </a:r>
          </a:p>
          <a:p>
            <a:r>
              <a:t>application/controllers/Auth.php:32</a:t>
            </a:r>
          </a:p>
          <a:p>
            <a:r>
              <a:t>application/view/pages/dashboard/index.php:39</a:t>
            </a:r>
          </a:p>
          <a:p>
            <a:r>
              <a:t>application/view/pages/dashboard/index.php:62</a:t>
            </a:r>
          </a:p>
          <a:p>
            <a:r>
              <a:t>application/view/pages/dashboard/index.php:97</a:t>
            </a:r>
          </a:p>
          <a:p>
            <a:r>
              <a:t>application/view/layout/sidebar_top_nav.php:63</a:t>
            </a:r>
          </a:p>
          <a:p>
            <a:r>
              <a:t>application/view/layout/sidebar_top_nav.php:259</a:t>
            </a:r>
          </a:p>
          <a:p>
            <a:r>
              <a:t>application/view/pages/documents/shared_index.php:11</a:t>
            </a:r>
          </a:p>
          <a:p>
            <a:r>
              <a:t>application/view/pages/documents/shared_index.php:124</a:t>
            </a:r>
          </a:p>
          <a:p>
            <a:r>
              <a:t>application/view/pages/documents/shared_index.php:149</a:t>
            </a:r>
          </a:p>
          <a:p>
            <a:r>
              <a:t>application/view/reusable_components/reusable_datatable.php:31</a:t>
            </a:r>
          </a:p>
          <a:p>
            <a:r>
              <a:t>application/view/reusable_components/document_folder_list.php:167</a:t>
            </a:r>
          </a:p>
          <a:p>
            <a:r>
              <a:t>application/models/Document_detail_model.php:124</a:t>
            </a:r>
          </a:p>
          <a:p>
            <a:r>
              <a:t>application/view/pages/request/shared_index.php:351</a:t>
            </a:r>
          </a:p>
          <a:p>
            <a:r>
              <a:t>application/view/pages/hardcopy_document/modal_action/upsert.php:11</a:t>
            </a:r>
          </a:p>
          <a:p>
            <a:r>
              <a:t>application/view/pages/hardcopy_document/modal_action/upsert.php:65</a:t>
            </a:r>
          </a:p>
          <a:p>
            <a:r>
              <a:t>application/controllers/Requests.php:114</a:t>
            </a:r>
          </a:p>
          <a:p>
            <a:r>
              <a:t>application/controllers/Requests.php:134</a:t>
            </a:r>
          </a:p>
          <a:p>
            <a:r>
              <a:t>application/view/pages/request/softcopy_fields.php:8</a:t>
            </a:r>
          </a:p>
          <a:p>
            <a:r>
              <a:t>application/view/pages/request/softcopy_fields.php:31</a:t>
            </a:r>
          </a:p>
          <a:p>
            <a:r>
              <a:t>application/view/pages/request/softcopy_fields.php:68</a:t>
            </a:r>
          </a:p>
          <a:p>
            <a:r>
              <a:t>public/assets/js/app.js:661</a:t>
            </a:r>
          </a:p>
          <a:p>
            <a:r>
              <a:t>application/view/pages/request/shared_index.php:337</a:t>
            </a:r>
          </a:p>
          <a:p>
            <a:r>
              <a:t>application/view/pages/request/softcopy_fields.php:10</a:t>
            </a:r>
          </a:p>
          <a:p>
            <a:r>
              <a:t>application/view/pages/request/softcopy_fields.php:52</a:t>
            </a:r>
          </a:p>
          <a:p>
            <a:r>
              <a:t>public/assets/js/app.js:720</a:t>
            </a:r>
          </a:p>
          <a:p>
            <a:r>
              <a:t>application/view/pages/documents/shared_index.php:62</a:t>
            </a:r>
          </a:p>
          <a:p>
            <a:r>
              <a:t>application/view/pages/files/print.php:17</a:t>
            </a:r>
          </a:p>
          <a:p>
            <a:r>
              <a:t>application/view/pages/request/shared_index.php:4</a:t>
            </a:r>
          </a:p>
          <a:p>
            <a:r>
              <a:t>application/view/pages/request/shared_index.php:206</a:t>
            </a:r>
          </a:p>
          <a:p>
            <a:r>
              <a:t>application/view/pages/request/shared_index.php:285</a:t>
            </a:r>
          </a:p>
          <a:p>
            <a:r>
              <a:t>application/services/request/request_policy.php:4</a:t>
            </a:r>
          </a:p>
          <a:p>
            <a:r>
              <a:t>application/services/request/request_service.php:462</a:t>
            </a:r>
          </a:p>
          <a:p>
            <a:r>
              <a:t>application/view/pages/request/shared_index.php:420</a:t>
            </a:r>
          </a:p>
          <a:p>
            <a:r>
              <a:t>application/view/pages/request/shared_index.php:430</a:t>
            </a:r>
          </a:p>
          <a:p>
            <a:r>
              <a:t>application/view/pages/request/shared_index.php:472</a:t>
            </a:r>
          </a:p>
          <a:p>
            <a:r>
              <a:t>application/view/pages/request/shared_index.php:487</a:t>
            </a:r>
          </a:p>
          <a:p>
            <a:r>
              <a:t>public/assets/js/app.js:678</a:t>
            </a:r>
          </a:p>
          <a:p>
            <a:r>
              <a:t>application/view/pages/request/hardcopy_transfer_fields.php:5</a:t>
            </a:r>
          </a:p>
          <a:p>
            <a:r>
              <a:t>application/view/pages/request/hardcopy_transfer_fields.php:17</a:t>
            </a:r>
          </a:p>
          <a:p>
            <a:r>
              <a:t>application/view/pages/request/hardcopy_transfer_fields.php:30</a:t>
            </a:r>
          </a:p>
          <a:p>
            <a:r>
              <a:t>application/view/pages/request/hardcopy_transfer_fields.php:54</a:t>
            </a:r>
          </a:p>
          <a:p>
            <a:r>
              <a:t>application/controllers/Requests.php:87</a:t>
            </a:r>
          </a:p>
          <a:p>
            <a:r>
              <a:t>application/view/pages/request/shared_index.php:519</a:t>
            </a:r>
          </a:p>
          <a:p>
            <a:r>
              <a:t>application/view/pages/request/shared_index.php:556</a:t>
            </a:r>
          </a:p>
          <a:p>
            <a:r>
              <a:t>application/controllers/Requests.php:169</a:t>
            </a:r>
          </a:p>
          <a:p>
            <a:r>
              <a:t>application/controllers/Requests.php:184</a:t>
            </a:r>
          </a:p>
          <a:p>
            <a:r>
              <a:t>application/models/Document_detail_model.php:223</a:t>
            </a:r>
          </a:p>
          <a:p>
            <a:r>
              <a:t>application/view/pages/request/shared_index.php:389</a:t>
            </a:r>
          </a:p>
          <a:p>
            <a:r>
              <a:t>application/view/pages/request/disposal_fields.php:6</a:t>
            </a:r>
          </a:p>
          <a:p>
            <a:r>
              <a:t>public/assets/js/app.js:774</a:t>
            </a:r>
          </a:p>
          <a:p>
            <a:r>
              <a:t>application/view/pages/documents/shared_index.php:84</a:t>
            </a:r>
          </a:p>
          <a:p>
            <a:r>
              <a:t>application/models/Document_detail_model.php:200</a:t>
            </a:r>
          </a:p>
          <a:p>
            <a:r>
              <a:t>application/view/pages/request/shared_index.php:235</a:t>
            </a:r>
          </a:p>
          <a:p>
            <a:r>
              <a:t>application/view/layout/footer.php:118</a:t>
            </a:r>
          </a:p>
          <a:p>
            <a:r>
              <a:t>application/view/pages/files/review.php:11</a:t>
            </a:r>
          </a:p>
          <a:p>
            <a:r>
              <a:t>application/services/request/request_service.php:739</a:t>
            </a:r>
          </a:p>
          <a:p>
            <a:r>
              <a:t>application/services/request/request_service.php:792</a:t>
            </a:r>
          </a:p>
          <a:p>
            <a:r>
              <a:t>public/assets/js/row-actions.js:19</a:t>
            </a:r>
          </a:p>
          <a:p>
            <a:r>
              <a:t>application/view/layout/sidebar_top_nav.php:294</a:t>
            </a:r>
          </a:p>
          <a:p>
            <a:r>
              <a:t>public/assets/js/notification-inbox.js:61</a:t>
            </a:r>
          </a:p>
          <a:p>
            <a:r>
              <a:t>public/assets/js/notification-inbox.js:85</a:t>
            </a:r>
          </a:p>
          <a:p>
            <a:r>
              <a:t>application/controllers/Notifications.php:14</a:t>
            </a:r>
          </a:p>
          <a:p>
            <a:r>
              <a:t>application/view/layout/footer.php:55</a:t>
            </a:r>
          </a:p>
          <a:p>
            <a:r>
              <a:t>application/view/pages/documents/shared_index.php:5</a:t>
            </a:r>
          </a:p>
          <a:p>
            <a:r>
              <a:t>application/view/pages/documents/shared_index.php:45</a:t>
            </a:r>
          </a:p>
          <a:p>
            <a:r>
              <a:t>application/view/pages/documents/shared_index.php:134</a:t>
            </a:r>
          </a:p>
          <a:p>
            <a:r>
              <a:t>application/view/pages/documents/shared_index.php:200</a:t>
            </a:r>
          </a:p>
          <a:p>
            <a:r>
              <a:t>application/view/pages/documents/shared_index.php:227</a:t>
            </a:r>
          </a:p>
          <a:p>
            <a:r>
              <a:t>application/controllers/Documents.php:125</a:t>
            </a:r>
          </a:p>
          <a:p>
            <a:r>
              <a:t>application/view/pages/administration/document_assignments.php:11</a:t>
            </a:r>
          </a:p>
          <a:p>
            <a:r>
              <a:t>application/view/pages/administration/document_assignments.php:28</a:t>
            </a:r>
          </a:p>
          <a:p>
            <a:r>
              <a:t>application/view/pages/administration/document_assignments.php:66</a:t>
            </a:r>
          </a:p>
          <a:p>
            <a:r>
              <a:t>application/view/pages/administration/document_assignments.php:171</a:t>
            </a:r>
          </a:p>
          <a:p>
            <a:r>
              <a:t>application/view/pages/user/index.php:49</a:t>
            </a:r>
          </a:p>
          <a:p>
            <a:r>
              <a:t>application/view/pages/places/shared_index.php:95</a:t>
            </a:r>
          </a:p>
          <a:p>
            <a:r>
              <a:t>application/models/Place_model.php:5</a:t>
            </a:r>
          </a:p>
          <a:p>
            <a:r>
              <a:t>application/view/pages/places/location/modal_action/upsert.php:10</a:t>
            </a:r>
          </a:p>
          <a:p>
            <a:r>
              <a:t>application/view/pages/places/shared_index.php:137</a:t>
            </a:r>
          </a:p>
          <a:p>
            <a:r>
              <a:t>application/view/pages/places/shared_index.php:54</a:t>
            </a:r>
          </a:p>
          <a:p>
            <a:r>
              <a:t>application/view/pages/user/index.php:5</a:t>
            </a:r>
          </a:p>
          <a:p>
            <a:r>
              <a:t>application/view/pages/user/index.php:108</a:t>
            </a:r>
          </a:p>
          <a:p>
            <a:r>
              <a:t>application/view/pages/user/index.php:149</a:t>
            </a:r>
          </a:p>
          <a:p>
            <a:r>
              <a:t>application/view/pages/user/temporary_credentials.php:2</a:t>
            </a:r>
          </a:p>
          <a:p>
            <a:r>
              <a:t>application/services/request/request_service.php:501</a:t>
            </a:r>
          </a:p>
          <a:p>
            <a:r>
              <a:t>application/view/pages/roles_and_permission/index.php:4</a:t>
            </a:r>
          </a:p>
          <a:p>
            <a:r>
              <a:t>application/view/pages/roles_and_permission/index.php:15</a:t>
            </a:r>
          </a:p>
          <a:p>
            <a:r>
              <a:t>application/view/pages/roles_and_permission/index.php:87</a:t>
            </a:r>
          </a:p>
          <a:p>
            <a:r>
              <a:t>application/view/pages/roles_and_permission/index.php:102</a:t>
            </a:r>
          </a:p>
          <a:p>
            <a:r>
              <a:t>application/view/pages/user/index.php:122</a:t>
            </a:r>
          </a:p>
          <a:p>
            <a:r>
              <a:t>application/view/pages/workflow_builder/index.php:5</a:t>
            </a:r>
          </a:p>
          <a:p>
            <a:r>
              <a:t>application/view/pages/workflow_builder/index.php:108</a:t>
            </a:r>
          </a:p>
          <a:p>
            <a:r>
              <a:t>application/view/pages/workflow_builder/index.php:118</a:t>
            </a:r>
          </a:p>
          <a:p>
            <a:r>
              <a:t>application/view/pages/workflow_builder/index.php:227</a:t>
            </a:r>
          </a:p>
          <a:p>
            <a:r>
              <a:t>application/view/pages/workflow_builder/index.php:275</a:t>
            </a:r>
          </a:p>
          <a:p>
            <a:r>
              <a:t>application/view/pages/administration/audit.php:3</a:t>
            </a:r>
          </a:p>
          <a:p>
            <a:r>
              <a:t>application/view/pages/administration/audit.php:17</a:t>
            </a:r>
          </a:p>
          <a:p>
            <a:r>
              <a:t>application/view/pages/administration/audit.php:40</a:t>
            </a:r>
          </a:p>
          <a:p>
            <a:r>
              <a:t>application/view/pages/administration/audit.php:50</a:t>
            </a:r>
          </a:p>
          <a:p>
            <a:r>
              <a:t>application/models/Document_detail_model.php:207</a:t>
            </a:r>
          </a:p>
          <a:p>
            <a:r>
              <a:t>application/view/layout/sidebar_top_nav.php:220</a:t>
            </a:r>
          </a:p>
          <a:p>
            <a:r>
              <a:t>application/view/pages/administration/backups.php:5</a:t>
            </a:r>
          </a:p>
          <a:p>
            <a:r>
              <a:t>application/view/pages/administration/backups.php:19</a:t>
            </a:r>
          </a:p>
          <a:p>
            <a:r>
              <a:t>application/view/pages/administration/backups.php:25</a:t>
            </a:r>
          </a:p>
          <a:p>
            <a:r>
              <a:t>application/view/pages/administration/backups.php:77</a:t>
            </a:r>
          </a:p>
          <a:p>
            <a:r>
              <a:t>application/view/pages/administration/backups.php:101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" name="Rectangle 4"/>
          <p:cNvSpPr/>
          <p:nvPr/>
        </p:nvSpPr>
        <p:spPr>
          <a:xfrm>
            <a:off x="0" y="82296"/>
            <a:ext cx="12191999" cy="6775704"/>
          </a:xfrm>
          <a:prstGeom prst="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704088"/>
            <a:ext cx="2304288" cy="310896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77724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Calibri"/>
              </a:rPr>
              <a:t>PRACTICAL SYSTEM WALKTHROUGH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2588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PK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79776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5B8C9"/>
                </a:solidFill>
                <a:latin typeface="Calibri"/>
              </a:rPr>
              <a:t>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3630168"/>
            <a:ext cx="470916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8E3F0"/>
                </a:solidFill>
                <a:latin typeface="Calibri"/>
              </a:rPr>
              <a:t>Find controlled records. Prepare requests.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8E3F0"/>
                </a:solidFill>
                <a:latin typeface="Calibri"/>
              </a:rPr>
              <a:t>Review approvals. Complete physical handoffs.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4910328"/>
            <a:ext cx="46908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8E3F0"/>
                </a:solidFill>
                <a:latin typeface="Calibri"/>
              </a:rPr>
              <a:t>Actual application screens with editable arrows.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8E3F0"/>
                </a:solidFill>
                <a:latin typeface="Calibri"/>
              </a:rPr>
              <a:t>Nine request scenarios using synthetic sample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1243584"/>
            <a:ext cx="6035040" cy="4251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17320"/>
            <a:ext cx="5852160" cy="39044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7784" y="6300216"/>
            <a:ext cx="8229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C7D5E8"/>
                </a:solidFill>
                <a:latin typeface="Calibri"/>
              </a:rPr>
              <a:t>26 OCTOBER 2026  ·  Desktop application reference  ·  No real account credentials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HOW TO USE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Your route through the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GET ORIENTED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Sign in and account security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Overview and navigation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Find records and inspect details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REQUEST AND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All nine request actions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Save Draft → Submit →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Return, reject, dispatch, and accept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CONTROL AND ADMINISTER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Direct documents and assignments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Places, users, roles, and workflows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Audit events and recovery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30952"/>
            <a:ext cx="109270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43B"/>
                </a:solidFill>
                <a:latin typeface="Calibri"/>
              </a:rPr>
              <a:t>Numbered arrows identify the controls to use. Access and actions depend on your role, assigned documents, and the current workflow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07608"/>
            <a:ext cx="10927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57084"/>
                </a:solidFill>
                <a:latin typeface="Calibri"/>
              </a:rPr>
              <a:t>All people, records, dates, and transactions shown as examples are synthetic demonstration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System access and responsibilities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login.png (native picture crop)" descr="login.png"/>
          <p:cNvPicPr>
            <a:picLocks noChangeAspect="1"/>
          </p:cNvPicPr>
          <p:nvPr/>
        </p:nvPicPr>
        <p:blipFill>
          <a:blip r:embed="rId2"/>
          <a:srcRect l="54861" t="14062" r="7083" b="13646"/>
          <a:stretch>
            <a:fillRect/>
          </a:stretch>
        </p:blipFill>
        <p:spPr>
          <a:xfrm>
            <a:off x="2432145" y="1060704"/>
            <a:ext cx="415169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4507992" y="3934897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377030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375658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380230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383888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Username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07992" y="4639473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447488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446116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50688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454346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Password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5147070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498247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496876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01448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05105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Sign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the address supplied by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system administrator and use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own account.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61972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Hardcopy Documents tracks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records; Softcopy Documents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provides controlled electronic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records and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0007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96183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My Requests for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proposals and My Tasks for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approvals or physical handoffs.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7368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732275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Document controllers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administrators receive extra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management menus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permitted.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67105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666487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Ask the administrator when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needed menu, action, or record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unavailable.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Menus, records, request actions, and file buttons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depend on your permissions and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access. A colleague may see different options.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Sign in and change your password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login.png (native picture crop)" descr="login.png"/>
          <p:cNvPicPr>
            <a:picLocks noChangeAspect="1"/>
          </p:cNvPicPr>
          <p:nvPr/>
        </p:nvPicPr>
        <p:blipFill>
          <a:blip r:embed="rId2"/>
          <a:srcRect l="54861" t="14062" r="7083" b="13646"/>
          <a:stretch>
            <a:fillRect/>
          </a:stretch>
        </p:blipFill>
        <p:spPr>
          <a:xfrm>
            <a:off x="2432145" y="1060704"/>
            <a:ext cx="415169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4507992" y="3934897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377030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375658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380230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383888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Username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07992" y="4639473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447488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446116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50688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454346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Password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5147070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498247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496876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01448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05105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Sign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Username and Password,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select Sign 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880362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a temporary password,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Current or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password, New password,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new password.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84759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more than 8 characters, 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 72 bytes; select Set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61302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60845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Later, open your name → Change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Password, complete the fields,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Update Password → Confirm.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37388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369308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your name → Sign Out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to finish your session.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If Invalid username or password appears, recheck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credentials. After too many failed attempts,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wait before trying again or contact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administrator.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Overview and main navigation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overview.png (native picture crop)" descr="overvie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4641" y="1060704"/>
            <a:ext cx="7886700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12648" y="1891539"/>
            <a:ext cx="67494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72694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71323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75895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79552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Open physical documents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2626125"/>
            <a:ext cx="67494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246153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244781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49353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53011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Start and track requests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3055893"/>
            <a:ext cx="674941" cy="120253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3232" y="289130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287758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2330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295988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assigned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Overview for your dashboard.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On narrow screens, use Toggle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navigation to show the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61972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Check Accessible documents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Created by you for counts within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your document access.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80263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798064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Check Pending approvals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Outstanding handoffs for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assigned to you or your roles.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53872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534156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Read Your document register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My request status to see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and request distributions.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27482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270248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the left navigation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documents, My Requests, My Tasks,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and permitted management pages;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the bell for Notifications.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Dashboard numbers reflect your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records and work, rather than an unrestricted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company-wide total.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Find and inspect document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hardcopy.png (native picture crop)" descr="hardcopy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881878"/>
            <a:ext cx="1386298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71728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70357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74929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78586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Search by document details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3952" y="1881878"/>
            <a:ext cx="85719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71728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70357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74929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78586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Authorized direct entry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73952" y="2880549"/>
            <a:ext cx="226945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71595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70224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74796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78453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Open document details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Hardcopy Documents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Softcopy Documents and choose Table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or Folder.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37207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Search records, status, owner,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date filters. Select Clear to remove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filters.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75310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748534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Expand hardcopy Area → Specific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optional Asset → Location, or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category folders. Use breadcrumbs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and All Documents to change scope.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649726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a document title or View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full details, related requests,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history, and applicable file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transfer history.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55549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50918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Rows per page, page arrows,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Recent / A–Z / Z–A ordering to browse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long lists.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Hardcopy table columns include Document Title,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Location, Holder, and Status. Softcopy columns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include Document Title, Document Number,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Category, and Status.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Open, download and print controlled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softcopy_files.png (native picture crop)" descr="softcopy_fil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5937650" y="2896104"/>
            <a:ext cx="53630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7315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7177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7635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8000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Open Document File History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473952" y="3188712"/>
            <a:ext cx="548265" cy="137160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16128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14756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19328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2986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Download the current approved file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473952" y="3188712"/>
            <a:ext cx="12569" cy="56692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359104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357733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2305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65962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Open the protected print 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Softcopy Documents and find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permitted active record.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File History to inspect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available revision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Download for an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copy of the current approved file.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Print to open the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print preview.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Available file actions depend on your permissions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and document access.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Inspect Document File History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ile_history.png (native picture crop)" descr="file_history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1534437" y="2561318"/>
            <a:ext cx="104417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39672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38301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42873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6530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Read the document file history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390725"/>
            <a:ext cx="110182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22613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21241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25813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29471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current and historical rev…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File History on the intended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 record.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revision details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identify the current file.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available Download or Print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actions for files within your access.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Close to return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 register.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Historical revision metadata can remain after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retired file bytes are cleaned 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Use the controlled print preview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print_file.png (native picture crop)" descr="print_file.png"/>
          <p:cNvPicPr>
            <a:picLocks noChangeAspect="1"/>
          </p:cNvPicPr>
          <p:nvPr/>
        </p:nvPicPr>
        <p:blipFill>
          <a:blip r:embed="rId2"/>
          <a:srcRect b="2083"/>
          <a:stretch>
            <a:fillRect/>
          </a:stretch>
        </p:blipFill>
        <p:spPr>
          <a:xfrm>
            <a:off x="480740" y="1060704"/>
            <a:ext cx="805450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 flipV="1">
            <a:off x="7493191" y="1320797"/>
            <a:ext cx="946721" cy="773179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192938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191566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96138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99796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Print this controlled file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8065397" y="1320797"/>
            <a:ext cx="374515" cy="1230379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38658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37286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41858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45516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Download the approved file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3754973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359038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357666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2238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65896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the file preview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Print from the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 file action.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Wait for the PDF, image or text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preview to prepare.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Print when ready,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your browser's print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dialog.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19570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Download when you need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permitted local copy.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Office files use the downloaded file and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installed Office application for printing.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Save, submit, and track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draft_softcopy_create.png (native picture crop)" descr="draft_softcopy_creat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473952" y="2894510"/>
            <a:ext cx="15832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72991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71620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76192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79849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View draft details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7810079" y="3187118"/>
            <a:ext cx="629833" cy="137160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15968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14597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19169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2826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Edit before submitting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Choose the appropriate My Requests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tab and select New Request; complete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the action-specific fields.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37207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Save Draft → Confirm records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proposal. Open View to inspect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metadata, any attachment, and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timeline.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94297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938399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Select Submit → Confirm when ready.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Submitted means the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workflow has started.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649726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a request Returned to you, read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the remarks, Edit, save, and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again.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36562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361053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Cancel an unwanted Draft. Delete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permanent and is offered only for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cancelled, never-submitted draft.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Statuses shown by the request filter are Draft,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Submitted, Completed, Approved, Rejected,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Returned, and Cancelled. Approved transfers still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need the physical handoff steps.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Submit a checked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submit_confirmation.png (native picture crop)" descr="submit_confirmation.png"/>
          <p:cNvPicPr>
            <a:picLocks noChangeAspect="1"/>
          </p:cNvPicPr>
          <p:nvPr/>
        </p:nvPicPr>
        <p:blipFill>
          <a:blip r:embed="rId2"/>
          <a:srcRect l="32847" t="31354" r="32847" b="30104"/>
          <a:stretch>
            <a:fillRect/>
          </a:stretch>
        </p:blipFill>
        <p:spPr>
          <a:xfrm>
            <a:off x="998055" y="1060704"/>
            <a:ext cx="7019873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4507992" y="3679745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351515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350143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354715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358373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the submission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00598" y="4912832"/>
            <a:ext cx="57335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474824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473452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78024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481682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Confirm to start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Save Draft records your proposal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without starting approval.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Back in the request list,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Submit for the intended draft.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request confirmation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Confirm to start the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workflow.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request becomes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Submitted, then inspect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Process Timeline.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Submit uses the shared Confirm dialog; it does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not ask for an approval remark.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01 · Create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softcopy_create.png (native picture crop)" descr="flow_softcopy_create.png"/>
          <p:cNvPicPr>
            <a:picLocks noChangeAspect="1"/>
          </p:cNvPicPr>
          <p:nvPr/>
        </p:nvPicPr>
        <p:blipFill>
          <a:blip r:embed="rId2"/>
          <a:srcRect l="20347" t="13333" r="20347" b="13333"/>
          <a:stretch>
            <a:fillRect/>
          </a:stretch>
        </p:blipFill>
        <p:spPr>
          <a:xfrm>
            <a:off x="1318957" y="1060704"/>
            <a:ext cx="637806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977987"/>
            <a:ext cx="49917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81339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79967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84539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88197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Create Softcopy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38203" y="1977987"/>
            <a:ext cx="53574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81339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79967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84539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88197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78608" y="2596353"/>
            <a:ext cx="49917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3232" y="243176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241804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46376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250034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Enter the sample title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Create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221991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Proposed Document Title: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651759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Number: DEMO-REQUEST-001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003803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2918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287268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Softcopy and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 / Reason.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84632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84174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the proposed title,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Number, optional Series Number,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Category.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460717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460260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 the Document File,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 if needed, and select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01 · Create Softcopy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softcopy_create.png (native picture crop)" descr="result_softcopy_creat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12648" y="1289304"/>
            <a:ext cx="797859" cy="193916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1247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1109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567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1932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completed proposal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95359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43076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41705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6277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49934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new controlled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appears in Softcopy Documents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final approval. The captured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 status is Completed.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02 · Revise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softcopy_revise.png (native picture crop)" descr="flow_softcopy_revise.png"/>
          <p:cNvPicPr>
            <a:picLocks noChangeAspect="1"/>
          </p:cNvPicPr>
          <p:nvPr/>
        </p:nvPicPr>
        <p:blipFill>
          <a:blip r:embed="rId2"/>
          <a:srcRect l="20347" t="7812" r="20347" b="7917"/>
          <a:stretch>
            <a:fillRect/>
          </a:stretch>
        </p:blipFill>
        <p:spPr>
          <a:xfrm>
            <a:off x="1732861" y="1060704"/>
            <a:ext cx="5550261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821362"/>
            <a:ext cx="68479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65677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64305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8877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72535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Revise Softcopy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752576" y="1821362"/>
            <a:ext cx="721376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65677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64305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68877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72535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52576" y="2359470"/>
            <a:ext cx="721376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19487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18116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22688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26345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Enter the sample title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77315" y="2235986"/>
            <a:ext cx="501293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3232" y="207139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5488" y="205767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10339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213997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Revise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221991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Proposed Document Title: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 - updated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651759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New Revision Level: 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003803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2918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287268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Revise Softcopy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Existing Softcopy Document.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84632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84174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proposed title;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New Revision Level and Number of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Pages.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60717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60260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an optional Effective Date,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 the revised file,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02 · Revise Softcopy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softcopy_revise.png (native picture crop)" descr="result_softcopy_revis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1788671" y="1449966"/>
            <a:ext cx="78993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28537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27165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31737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35395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completed proposal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95359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43076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41705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6277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49934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revision becomes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current controlled file; check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revision and file history.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captured request status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03 · Cancel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softcopy_cancel.png (native picture crop)" descr="flow_softcopy_cancel.png"/>
          <p:cNvPicPr>
            <a:picLocks noChangeAspect="1"/>
          </p:cNvPicPr>
          <p:nvPr/>
        </p:nvPicPr>
        <p:blipFill>
          <a:blip r:embed="rId2"/>
          <a:srcRect l="20347" t="23229" r="20347" b="23125"/>
          <a:stretch>
            <a:fillRect/>
          </a:stretch>
        </p:blipFill>
        <p:spPr>
          <a:xfrm>
            <a:off x="393191" y="1208196"/>
            <a:ext cx="8229600" cy="4962814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2470383"/>
            <a:ext cx="8398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30579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29207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3779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7437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Cancel Softcopy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6353388" y="2470383"/>
            <a:ext cx="12056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30579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29207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33779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37437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3085163"/>
            <a:ext cx="29128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3232" y="292057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290685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5257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298915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Cancel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221991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Existing Softcopy Document: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 - updated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743199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03123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02666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Cancel Softcopy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Existing Softcopy Document.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358571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58114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Subject / Reason and any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 explaining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cancellation.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434657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434200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Save Draft, check the selected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record, and submit the proposal.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03 · Cancel Softcopy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softcopy_cancel.png (native picture crop)" descr="result_softcopy_cancel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1788671" y="1521304"/>
            <a:ext cx="78993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3567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3429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3887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4252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completed proposal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95359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43076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41705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6277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49934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controlled softcopy is cancelled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final approval; use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Cancelled status filter to inspect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captured request status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04 · Create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hardcopy_create.png (native picture crop)" descr="flow_hardcopy_create.png"/>
          <p:cNvPicPr>
            <a:picLocks noChangeAspect="1"/>
          </p:cNvPicPr>
          <p:nvPr/>
        </p:nvPicPr>
        <p:blipFill>
          <a:blip r:embed="rId2"/>
          <a:srcRect l="20347" t="11250" r="20347" b="11250"/>
          <a:stretch>
            <a:fillRect/>
          </a:stretch>
        </p:blipFill>
        <p:spPr>
          <a:xfrm>
            <a:off x="1490410" y="1060704"/>
            <a:ext cx="603516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912277"/>
            <a:ext cx="576065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74768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73396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77968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81626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Create Hardcopy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861310" y="1912277"/>
            <a:ext cx="61264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74768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73396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77968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81626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2497397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33280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31908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36480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40138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Enter the sample title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Create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221991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Title: Sample signed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57403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8620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750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and enter Subject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Reason and Document Title.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341655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41198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Area, Specific,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Asset, Location, and check Current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Holder.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417741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4172838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Optionally enable retention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monitoring, then enter both 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End dates (End on/after Start).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notes and Save Draft.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04 · Create Hardcopy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hardcopy_create.png (native picture crop)" descr="result_hardcopy_creat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new hardcopy record appears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with its approved storage hierarchy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holder. The captured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 is Completed.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05 · Update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hardcopy_update.png (native picture crop)" descr="flow_hardcopy_update.png"/>
          <p:cNvPicPr>
            <a:picLocks noChangeAspect="1"/>
          </p:cNvPicPr>
          <p:nvPr/>
        </p:nvPicPr>
        <p:blipFill>
          <a:blip r:embed="rId2"/>
          <a:srcRect l="20347" t="6979" r="20347" b="6875"/>
          <a:stretch>
            <a:fillRect/>
          </a:stretch>
        </p:blipFill>
        <p:spPr>
          <a:xfrm>
            <a:off x="1793263" y="1060704"/>
            <a:ext cx="5429457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794861"/>
            <a:ext cx="711888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630269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616553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62273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98849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Update Hardcopy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725487" y="1794861"/>
            <a:ext cx="748465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630269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616553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662273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698849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2847652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68306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66934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71506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75164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Enter the sample title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130220" y="2224629"/>
            <a:ext cx="448388" cy="268440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3232" y="206003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5488" y="204632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09204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212861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Update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221991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Title: Sample signed register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updated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743199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03123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02666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Update and select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Existing Hardcopy Document.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358571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58114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Document Title, Area,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Specific, optional Asset, Location,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Current Holder.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34657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34200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Update the intended metadata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retention information,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05 · Update Hardcopy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hardcopy_update.png (native picture crop)" descr="result_hardcopy_updat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hardcopy metadata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is applied; inspect the changed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storage or retention fields.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captured request status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06 · Grant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access.png (native picture crop)" descr="flow_access.png"/>
          <p:cNvPicPr>
            <a:picLocks noChangeAspect="1"/>
          </p:cNvPicPr>
          <p:nvPr/>
        </p:nvPicPr>
        <p:blipFill>
          <a:blip r:embed="rId2"/>
          <a:srcRect l="20347" t="18854" r="20347" b="18854"/>
          <a:stretch>
            <a:fillRect/>
          </a:stretch>
        </p:blipFill>
        <p:spPr>
          <a:xfrm>
            <a:off x="753676" y="1060704"/>
            <a:ext cx="7508630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2192037"/>
            <a:ext cx="24565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02744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01372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05944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9602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Grant Access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6191718" y="2192037"/>
            <a:ext cx="28223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02744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01372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05944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09602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87122" y="2752959"/>
            <a:ext cx="188683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58836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57465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62037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65694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Access Expires At: 2027-12-31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052828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Selected document: Example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482596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Subject: Grant Access - documentation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834640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12267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11810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Access Grants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enter Subject.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67715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67258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Type, select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document, and check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read-only Recipient field.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44380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44334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Set Access Expires At, add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Save Draft.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06 · Grant Access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access.png (native picture crop)" descr="result_access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access grant applies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 the selected document and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signed-in recipient until its expiry.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captured request status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07 · Assign Document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assignment.png (native picture crop)" descr="flow_assignment.png"/>
          <p:cNvPicPr>
            <a:picLocks noChangeAspect="1"/>
          </p:cNvPicPr>
          <p:nvPr/>
        </p:nvPicPr>
        <p:blipFill>
          <a:blip r:embed="rId2"/>
          <a:srcRect l="20347" t="18854" r="20347" b="18854"/>
          <a:stretch>
            <a:fillRect/>
          </a:stretch>
        </p:blipFill>
        <p:spPr>
          <a:xfrm>
            <a:off x="753676" y="1060704"/>
            <a:ext cx="7508630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2192037"/>
            <a:ext cx="24565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02744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01372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05944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9602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Assign Document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6191718" y="2192037"/>
            <a:ext cx="28223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02744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01372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05944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09602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87122" y="2752959"/>
            <a:ext cx="188683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258836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57465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62037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65694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Selected document: Example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221991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Subject: Assign Document - documentation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743199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03123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02666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Assignments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enter Subject.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358571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58114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Type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document to be assigned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you.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434657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434200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your read-only Recipient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Assigned User, add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Save Draft.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07 · Assign Document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assignment.png (native picture crop)" descr="result_assignment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assignment applies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 the selected document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signed-in recipient. The captured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 status is Completed.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08 · Transfer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transfer.png (native picture crop)" descr="flow_transfer.png"/>
          <p:cNvPicPr>
            <a:picLocks noChangeAspect="1"/>
          </p:cNvPicPr>
          <p:nvPr/>
        </p:nvPicPr>
        <p:blipFill>
          <a:blip r:embed="rId2"/>
          <a:srcRect l="20347" t="3542" r="20347" b="3646"/>
          <a:stretch>
            <a:fillRect/>
          </a:stretch>
        </p:blipFill>
        <p:spPr>
          <a:xfrm>
            <a:off x="1988260" y="1060704"/>
            <a:ext cx="503946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2301014" y="1613139"/>
            <a:ext cx="27759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44854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43483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8055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51712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792224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Location: Sample receiving location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052828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Hardcopy Document: Sample signed register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updated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482596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Receiving User: Receiver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743200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Request Subject: Transfer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264408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55244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54787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the Hardcopy Document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Original Places and Holder.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410692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410235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the destination hierarchy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Receiving User;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must differ from the original.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486778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4863211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Request Subject and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Save Draft.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08 · Transfer Hardcopy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transfer.png (native picture crop)" descr="result_transfer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creates the handoff work.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Dispatch and recipient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Accept before treating the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transfer as received. The captured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 status is Approved.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09 · Dispose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flow_disposal.png (native picture crop)" descr="flow_disposal.png"/>
          <p:cNvPicPr>
            <a:picLocks noChangeAspect="1"/>
          </p:cNvPicPr>
          <p:nvPr/>
        </p:nvPicPr>
        <p:blipFill>
          <a:blip r:embed="rId2"/>
          <a:srcRect l="20347" t="17604" r="20347" b="17604"/>
          <a:stretch>
            <a:fillRect/>
          </a:stretch>
        </p:blipFill>
        <p:spPr>
          <a:xfrm>
            <a:off x="898537" y="1060704"/>
            <a:ext cx="7218908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2136170"/>
            <a:ext cx="31062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97157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95786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00358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4015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Dispose Hardcopy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6126751" y="2136170"/>
            <a:ext cx="34720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97157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95786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00358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04015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State the reason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2675448"/>
            <a:ext cx="73390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3232" y="251085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249714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54286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257943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the existing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DEMONSTRATION INPUTS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79222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Dispose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221991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Disposal Reason: Shred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48259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Hardcopy Document: Example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003803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2918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2872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Hardcopy Disposal,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 / Reason, and select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05269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04812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Disposal Reason: Shred,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Scratch, or Other. Complete Other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Reason if selected.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481355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480898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optional Remarks, Save Draft,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review and submit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proposal.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Synthetic example. Save Draft first, then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checking the proposal.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ALL NINE REQUEST FLOWS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09 · Dispose Hardcopy —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sult_disposal.png (native picture crop)" descr="result_disposal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1844306" y="1581307"/>
            <a:ext cx="73430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41671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40299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4871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48529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completed proposal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40503"/>
            <a:ext cx="104421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37591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36219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0791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44449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status and approval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RECORDED RESULT: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96689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record becomes Disposed;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Disposal Details and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reason in the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register. The captured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 is Completed.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screenshot shows the demonstrated result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isolated sample workspace.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Review and decide approval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approval_task.png (native picture crop)" descr="approval_task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5456548" y="2894510"/>
            <a:ext cx="101740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72991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71620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76192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79849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Read request details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473952" y="3187118"/>
            <a:ext cx="245258" cy="137160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15968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14597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19169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2826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Approve this step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7825314" y="3187118"/>
            <a:ext cx="614598" cy="56692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358945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357573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2145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65803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Return for correction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473952" y="3187118"/>
            <a:ext cx="813363" cy="996696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74536" y="401922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36792" y="400550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405122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408780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Reject this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Tasks, choose a category,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open the assigned request's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View details.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08673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proposal,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Process Timeline, and Workflow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Activity Log; use Review File for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attached softcopy.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05854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3053969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Approve → Confirm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move the current step forward.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61302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60845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Return or Reject, enter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optional Remark, then Continue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 the decision.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37388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369308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timeline.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 at step one sends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requester; later-step Return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reactivates the previous approver.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currently assigned approver, 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authorized member of the assigned role, may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decide.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Approve the active workflow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approval_confirmation.png (native picture crop)" descr="approval_confirmation.png"/>
          <p:cNvPicPr>
            <a:picLocks noChangeAspect="1"/>
          </p:cNvPicPr>
          <p:nvPr/>
        </p:nvPicPr>
        <p:blipFill>
          <a:blip r:embed="rId2"/>
          <a:srcRect l="32847" t="31354" r="32847" b="30104"/>
          <a:stretch>
            <a:fillRect/>
          </a:stretch>
        </p:blipFill>
        <p:spPr>
          <a:xfrm>
            <a:off x="998055" y="1060704"/>
            <a:ext cx="7019873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4507992" y="3679780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351518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350147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354719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358376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Check the approval action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00598" y="4912832"/>
            <a:ext cx="573354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474824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473452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78024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481682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Confirm this step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assigned request in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 and inspect the proposal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86737"/>
            <a:ext cx="2615184" cy="284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Approve for the active task.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43941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43484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shared confirmation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Confirm.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938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98932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next step or completed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result in the Approval Process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Timeline.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Approve uses Confirm directly. It does not open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remark form.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Return from the first approval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quest_returned.png (native picture crop)" descr="request_returned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398420" y="1576988"/>
            <a:ext cx="104149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141239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139868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44440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48097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Edit your returned proposal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637442" y="2749882"/>
            <a:ext cx="80247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58529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57157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61729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65387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Resubmit after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 the first active step,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an optional Remark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explaining what needs attention.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Continue. This records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 decision.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becomes Returned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its requester, who may edit, save,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resubmit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Continue in the Return dialog is the confirmation;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 second Confirm dialog follows.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Return from a later approval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turn_previous_approver.png (native picture crop)" descr="return_previous_approver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414496" y="2894510"/>
            <a:ext cx="1025416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729918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716202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761922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798498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Previous approver receives reope…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473952" y="3187118"/>
            <a:ext cx="392822" cy="137160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15968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14597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19169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2826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Read the return remark and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Return when an earlier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review needs to be reconsidered.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an optional Remark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Continue.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immediately previous approver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becomes active again.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that approver approves again,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returns to the step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returned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 later-step Return keeps the request Submitted;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it does not send an editable draft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Reject a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equest_rejected.png (native picture crop)" descr="request_rejected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636373" y="2689215"/>
            <a:ext cx="80353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52462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51090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55662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59320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Rejected request remains in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Review the proposal and choose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Reject when it should stop.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an optional Remark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explains the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Continue to record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rejection.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Rejected in the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 and read the decision in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activity log.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Rejected proposals are not completed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changes and are not editable returned drafts.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Cancel and, when eligible, remove a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cancelled_draft.png (native picture crop)" descr="cancelled_draft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618873" y="2689215"/>
            <a:ext cx="82103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52462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51090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55662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59320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Only an unsubmitted cancelled dr…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your own Draft in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Requests and select Cancel.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the cancellation and 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Cancelled status.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If Delete is offered, check that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is the draft you intend to remove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permanently.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Delete and confirm. Only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your cancelled, never-submitted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 is eligible.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Permanent draft deletion cannot be undone. It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not an operation on an approved document.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Dispatch and accept the physical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transfer_accept.png (native picture crop)" descr="transfer_accept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635157" y="4899474"/>
            <a:ext cx="804755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473488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472116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476688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480346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Recipient confirms physical receipt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Tasks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Transfer and find Physical Transfer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Handoffs.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document, requester,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current holder, recipient,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requester selects Dispatch 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physical release, then Confirm.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physical receipt, the recipient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Accept for the In Transit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handoff, then Confirm.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293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holder,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location, and Transfer History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Hardcopy Documents.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transfer requester can dispatch. Only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destination recipient can accept.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Record physical dispatch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transfer_dispatch.png (native picture crop)" descr="transfer_dispatch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596949" y="4899474"/>
            <a:ext cx="842963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473488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472116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476688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480346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Requester dispatches after physi…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approval, open My Tasks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Hardcopy Transfer.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requester locates the intended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Physical Transfer Handoff.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Dispatch at physical release,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select Confirm.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that the handoff awaits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receiving user's acceptance.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transfer requester can dispatch.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Verify the received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transfer_received.png (native picture crop)" descr="transfer_received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681112" y="1060704"/>
            <a:ext cx="765375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416962"/>
            <a:ext cx="1922728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25237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23865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28437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32095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Verify document custody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receiving user opens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in-transit handoff.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checking the physical record,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Accept → Confirm.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holder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location in Hardcopy Documents.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Transfer History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confirming the recorded handoff.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receiving user's acceptance completes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physical receipt and updates custody.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Read notifications and approval reminders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notifications.png (native picture crop)" descr="notification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4641" y="1060704"/>
            <a:ext cx="7886700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5154263" y="2575464"/>
            <a:ext cx="131968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41087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39715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44287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4794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bell to read Notifications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their Request Reference, title,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approval label.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an entry to mark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notification read and open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matching My Tasks list.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Previous, Next, and Rows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additional notification pages.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If Approval needed appears,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its new-task links or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Got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293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My Tasks to record the actual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decision or handoff; reading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notice does not approve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Opening the notification panel alone does not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mark every item read; selecting an entry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acknowledges that notification.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Apply authorized direct document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direct_hardcopy.png (native picture crop)" descr="direct_hardcopy.png"/>
          <p:cNvPicPr>
            <a:picLocks noChangeAspect="1"/>
          </p:cNvPicPr>
          <p:nvPr/>
        </p:nvPicPr>
        <p:blipFill>
          <a:blip r:embed="rId2"/>
          <a:srcRect l="20347" t="15625" r="20347" b="15521"/>
          <a:stretch>
            <a:fillRect/>
          </a:stretch>
        </p:blipFill>
        <p:spPr>
          <a:xfrm>
            <a:off x="1111500" y="1060704"/>
            <a:ext cx="6792982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4507992" y="2051101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1886509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1872793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918513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955089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Enter the sample title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533079" y="3875746"/>
            <a:ext cx="104552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711154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3697438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743158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779734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Confirm the responsible holder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73952" y="5488855"/>
            <a:ext cx="4483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532426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531054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35626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39284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Save Document and 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the permitted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register. Direct actions require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corresponding direct permission.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61972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a hardcopy, select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Direct and complete title, storage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hierarchy, holder, and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retention or notes.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0007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96183"/>
            <a:ext cx="2615184" cy="47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Save Document → Confirm,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then inspect the saved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53872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534156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a softcopy, choose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Direct, select the action,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complete the visible fields;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and Revise require a file.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47294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468368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Approve Directly →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Edit an active record or use Dispose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with a disposal reason only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those actions are permitted.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Direct softcopy actions are approved and applied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immediately by the authorized operator. Use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Requests when approval through the workflow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required.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Apply a direct softcopy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direct_softcopy.png (native picture crop)" descr="direct_softcopy.png"/>
          <p:cNvPicPr>
            <a:picLocks noChangeAspect="1"/>
          </p:cNvPicPr>
          <p:nvPr/>
        </p:nvPicPr>
        <p:blipFill>
          <a:blip r:embed="rId2"/>
          <a:srcRect l="20347" t="13333" r="20347" b="13333"/>
          <a:stretch>
            <a:fillRect/>
          </a:stretch>
        </p:blipFill>
        <p:spPr>
          <a:xfrm>
            <a:off x="1318957" y="1060704"/>
            <a:ext cx="6378069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977987"/>
            <a:ext cx="49917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81339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79967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84539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88197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Create, Revise or Cancel directly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38203" y="2596353"/>
            <a:ext cx="535749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243176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241804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46376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50034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Use a unique document number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507992" y="3833084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366849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365477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70049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73707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Attach the controlled file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73952" y="5523875"/>
            <a:ext cx="282223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74536" y="535928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36792" y="534556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539128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542786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Approve Directly and confirm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Softcopy Documents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Softcopy Direct.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Softcopy, Revise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Softcopy, or Cancel Softcopy.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the action-specific fields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attach a file for Create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Approve Directly,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Confirm. Inspect the resulting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Direct actions require the appropriate permission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and apply the change immediately.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Assign documents directly to users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assign_user.png (native picture crop)" descr="assign_user.png"/>
          <p:cNvPicPr>
            <a:picLocks noChangeAspect="1"/>
          </p:cNvPicPr>
          <p:nvPr/>
        </p:nvPicPr>
        <p:blipFill>
          <a:blip r:embed="rId2"/>
          <a:srcRect l="25903" t="31979" r="25903" b="31979"/>
          <a:stretch>
            <a:fillRect/>
          </a:stretch>
        </p:blipFill>
        <p:spPr>
          <a:xfrm>
            <a:off x="393191" y="1638133"/>
            <a:ext cx="8229600" cy="4102941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1800057" y="1986795"/>
            <a:ext cx="77855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822203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808487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854207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890783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direct assignment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07992" y="3254604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0900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0762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1220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1585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active user and records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73952" y="4664713"/>
            <a:ext cx="658132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4500121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4486405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4532125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4568701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Apply the assignment and 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Document Assignments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choose Hardcopy / Places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Softcopy / Categories.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61972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Assign Document, choose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document and Assigned User,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Save Assignment →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80263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798064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Edit on an assignment to change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its Assigned User; check Document,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Assigned To, and Updated.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53872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534156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a bulk hardcopy assignment,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Location and Assigned User,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then Assign All → Confirm.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27482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270248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softcopies, select Category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Subcategory and Assigned User,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then Assign All → Confirm;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subcategories are included.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This page applies assignments directly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requires direct assignment permission.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Approval-based assignment requests remain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My Requests → Document Assignments.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Maintain places and softcopy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places.png (native picture crop)" descr="plac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2304991"/>
            <a:ext cx="183605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140399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126683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172403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208979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this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Setup Places and choose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Area, Specific, Asset, Location,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 Categories.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Add or Edit. Maintain Area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Specific → optional Asset before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selecting Location.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847594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Location, enter Location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Area, Specific, optional Asset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Number, and optional Sequence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Archive Date.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8193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81482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Softcopy Categories,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Name, Folder, optional Description,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Parent for a subcategory.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802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57568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Active, then Save Record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Confirm. Deactivate an unused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reference item to preserve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historical links.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tabs and actions permitted for the current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account are shown.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Create and maintain user accounts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new_user.png (native picture crop)" descr="new_user.png"/>
          <p:cNvPicPr>
            <a:picLocks noChangeAspect="1"/>
          </p:cNvPicPr>
          <p:nvPr/>
        </p:nvPicPr>
        <p:blipFill>
          <a:blip r:embed="rId2"/>
          <a:srcRect l="20347" t="7812" r="20347" b="7812"/>
          <a:stretch>
            <a:fillRect/>
          </a:stretch>
        </p:blipFill>
        <p:spPr>
          <a:xfrm>
            <a:off x="1736287" y="1060704"/>
            <a:ext cx="5543408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5751039" y="2355172"/>
            <a:ext cx="722913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219058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217686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22258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225916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a unique username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07992" y="3351507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186915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173199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218919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55495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Choose active roles and leader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73952" y="5591498"/>
            <a:ext cx="13371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74536" y="542690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541319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45891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9548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Save account; keep generated pas…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User Management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Add User or Edit an existing eligible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account.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061972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Complete First Name,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Middle Name, Last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Username, and Position Title.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80263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798064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Choose Primary role and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roles; select an optional Leader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when the workflow needs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353872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3534156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Check Active account,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User → Confirm. New-account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credentials appear once; share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privately with the owner.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47294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468368"/>
            <a:ext cx="26151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Generate a new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password for a reset, Deactivate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disable an eligible account,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Assigned Documents to inspect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assignments.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generated temporary password is displayed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once after saving. The user must replace it before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accessing protected modules.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Maintain roles and permissions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roles.png (native picture crop)" descr="rol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7483247" y="1289304"/>
            <a:ext cx="956665" cy="163401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74536" y="11247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36792" y="11109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1567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1932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Create a role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7483247" y="1452705"/>
            <a:ext cx="956665" cy="266367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1554480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1540764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586484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62306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role 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Roles &amp; Permissions; search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or filter to find the role.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8036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Add Role or Edit and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Role Name; check Active role 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appropriate.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64579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64121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Under Module Permissions,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only the actions needed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role.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Save Role → Confirm,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 the role to users in User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Management.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16293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Deactivate or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Remove only when offered for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unused role, and read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 carefully.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Permissions control both visible menus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individual actions such as direct changes,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requests, downloads, and printing.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Configure and publish approval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workflow_steps.png (native picture crop)" descr="workflow_steps.png"/>
          <p:cNvPicPr>
            <a:picLocks noChangeAspect="1"/>
          </p:cNvPicPr>
          <p:nvPr/>
        </p:nvPicPr>
        <p:blipFill>
          <a:blip r:embed="rId2"/>
          <a:srcRect l="9931" t="6667" r="9931" b="7083"/>
          <a:stretch>
            <a:fillRect/>
          </a:stretch>
        </p:blipFill>
        <p:spPr>
          <a:xfrm>
            <a:off x="844041" y="1060704"/>
            <a:ext cx="7327900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>
            <a:off x="2342641" y="2225619"/>
            <a:ext cx="235967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2061027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047311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093031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29607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Select workflow version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07992" y="3556341"/>
            <a:ext cx="1965960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74536" y="3391749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6792" y="3378033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423753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460329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Review ordered approval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325880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Workflow Builder, find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 Type, and open Steps. Use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Workflow Version to inspect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route.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29768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29311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Start First Draft or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Next Draft; published versions 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read-only.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305854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05396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Approval Step, enter its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select a role, specific user,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Requester's leader, or Requester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account; Save Step → Confirm.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402577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402120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Edit, move, or remove draft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until the order is correct,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Validate &amp; Publish → Confirm.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78663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782058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published default. Future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requests use it; existing submitted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requests keep their original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timeline.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 workflow supports up to 30 approval steps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needs an approval route before publication.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Inspect the Internal Audit Trail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audit.png (native picture crop)" descr="audit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1289304"/>
            <a:ext cx="1923161" cy="275402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1124712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1110996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56716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19329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Search audit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Internal Audit Trail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search for the relevant user, action,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or subject.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Filter All Results, Success, or Failed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choose the required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period.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Recorded At, User, Action,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Subject, and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View for Audit Event details,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including User ID and recorded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Details; select Close when finished.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293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document-specific evidence,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also inspect its Approval History,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Related Requests, or Transfer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History.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audit page is a read-only inspection screen;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does not provide an edit or delete operation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audit events.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Back up, import, and restore system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Original system screenshot: backups.png (native picture crop)" descr="backup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930199" y="1060704"/>
            <a:ext cx="7155585" cy="52578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578608" y="3238328"/>
            <a:ext cx="1923161" cy="292608"/>
          </a:xfrm>
          <a:prstGeom prst="line">
            <a:avLst/>
          </a:prstGeom>
          <a:ln w="27940">
            <a:solidFill>
              <a:srgbClr val="A800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3232" y="3073736"/>
            <a:ext cx="1965960" cy="329184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3060020"/>
            <a:ext cx="356616" cy="35661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105740"/>
            <a:ext cx="356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003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142316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FFFFF"/>
                </a:solidFill>
                <a:latin typeface="Calibri"/>
              </a:rPr>
              <a:t>Backup and restore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Backup &amp; Restore; 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readiness, the stated schedule,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Last automatic backup.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037207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Select Backup now → Confirm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create an encrypted manual backup;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inspect or download the resulting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archive.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4297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938399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Import backup, choose Backup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ZIP, then Import backup → Confirm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verify and store an existing archive.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649726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To restore, select Restore system data,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choose Backup to restore, enter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password, and type RESTORE;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Restore selected backup → Confirm.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55549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550918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Clean up → Confirm to remove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backup and log archives older than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three months.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385816"/>
            <a:ext cx="2889504" cy="960120"/>
          </a:xfrm>
          <a:prstGeom prst="roundRect">
            <a:avLst>
              <a:gd name="adj" fmla="val 25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468112"/>
            <a:ext cx="26883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Restore replaces live records and private files;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interface states that a recovery backup is created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first. Perform it only as an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administrator following the organization's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recovery procedure.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Actual system screens · Synthetic demonstration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REFERENCE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Interface evidence and source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1922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57084"/>
                </a:solidFill>
                <a:latin typeface="Calibri"/>
              </a:rPr>
              <a:t>Each module slide includes precise source paths and line references in its speaker notes. The guide follows the existing interface and verified demonstration flows.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application/controllers/Auth.php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3969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application/controllers/Documents.php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3230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application/controllers/Notifications.php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2491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application/controllers/Requests.php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application/models/Document_detail_model.php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application/models/Place_model.php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0273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application/services/request/request_policy.php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9534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application/services/request/request_service.php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8795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application/view/layout/footer.php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application/view/layout/sidebar_top_nav.php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7316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application/view/pages/administration/audit.php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6577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application/view/pages/administration/backups.php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application/view/pages/administration/document_assignments.php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13969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application/view/pages/authentication/first_login.php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43230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application/view/pages/authentication/index.php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72491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application/view/pages/authentication/password_fields.php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01752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application/view/pages/dashboard/index.php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331012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application/view/pages/documents/shared_index.php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360273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application/view/pages/files/print.php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89534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application/view/pages/files/review.php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18795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application/view/pages/hardcopy_document/modal_action/upsert.php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448056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application/view/pages/places/location/modal_action/upsert.php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77316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application/view/pages/places/shared_index.php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506577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application/view/pages/request/disposal_fields.php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87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87F87"/>
                </a:solidFill>
                <a:latin typeface="Calibri"/>
              </a:rPr>
              <a:t>Screenshots: actual local application, 1440 × 960 capture. Demonstration records are synthetic. The original screenshot files are embedded without image editing; PowerPoint picture crops, arrows, and labels are editable.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Source-backed interface instructions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REFERENCE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Interface evidence and source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1922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57084"/>
                </a:solidFill>
                <a:latin typeface="Calibri"/>
              </a:rPr>
              <a:t>Each module slide includes precise source paths and line references in its speaker notes. The guide follows the existing interface and verified demonstration flows.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application/view/pages/request/hardcopy_transfer_fields.php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3969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application/view/pages/request/shared_index.php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3230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application/view/pages/request/softcopy_fields.php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2491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application/view/pages/roles_and_permission/index.php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application/view/pages/user/index.php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application/view/pages/user/temporary_credentials.php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0273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application/view/pages/workflow_builder/index.php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95344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application/view/reusable_components/document_folder_list.php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87952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application/view/reusable_components/reusable_datatable.php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public/assets/js/app.js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73168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public/assets/js/notification-inbox.js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65776"/>
            <a:ext cx="55595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93346"/>
                </a:solidFill>
                <a:latin typeface="Calibri"/>
              </a:rPr>
              <a:t>public/assets/js/row-actions.js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87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87F87"/>
                </a:solidFill>
                <a:latin typeface="Calibri"/>
              </a:rPr>
              <a:t>Screenshots: actual local application, 1440 × 960 capture. Demonstration records are synthetic. The original screenshot files are embedded without image editing; PowerPoint picture crops, arrows, and labels are editable.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Source-backed interface instructions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PK Document Control — User Guide</dc:title>
  <dc:subject>Practical system modules and all nine demonstrated request flows</dc:subject>
  <dc:creator>PK Document Control</dc:creator>
  <cp:keywords>user guide, screenshots, synthetic examples, document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