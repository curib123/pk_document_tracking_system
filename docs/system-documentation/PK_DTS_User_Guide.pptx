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proposed guide sets out intended user procedures and expected outcomes. Screen illustrations use sample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the address supplied by your system administrator and use your own account.</a:t>
            </a:r>
          </a:p>
          <a:p>
            <a:r>
              <a:t>Hardcopy Documents tracks physical records; Softcopy Documents provides controlled electronic records and files.</a:t>
            </a:r>
          </a:p>
          <a:p>
            <a:r>
              <a:t>Use My Requests for approval proposals and My Tasks for assigned approvals or physical handoffs.</a:t>
            </a:r>
          </a:p>
          <a:p>
            <a:r>
              <a:t>Document controllers and administrators receive extra management menus when permitted.</a:t>
            </a:r>
          </a:p>
          <a:p>
            <a:r>
              <a:t>Ask the administrator when a needed menu, action, or record is unavailable.</a:t>
            </a:r>
          </a:p>
          <a:p>
            <a:r>
              <a:t>Operating notes:</a:t>
            </a:r>
          </a:p>
          <a:p>
            <a:r>
              <a:t>Permissions and document access will determine the menus, records, request actions, and file buttons available to each user.</a:t>
            </a:r>
          </a:p>
          <a:p>
            <a:r>
              <a:t>Ask your administrator when a needed menu or document is unavailable; do not use another person's account.</a:t>
            </a:r>
          </a:p>
          <a:p>
            <a:r>
              <a:t>Document access will not automatically grant permission to edit, download, print, approve, or administer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Enter Username and Password, then select Sign In.</a:t>
            </a:r>
          </a:p>
          <a:p>
            <a:r>
              <a:t>For a temporary password, complete Current or temporary password, New password, and Confirm new password.</a:t>
            </a:r>
          </a:p>
          <a:p>
            <a:r>
              <a:t>Choose more than 8 characters, up to 72 bytes; select Set permanent password.</a:t>
            </a:r>
          </a:p>
          <a:p>
            <a:r>
              <a:t>Later, open your name → Change Password, complete the fields, then Update Password → Confirm.</a:t>
            </a:r>
          </a:p>
          <a:p>
            <a:r>
              <a:t>Open your name → Sign Out → Confirm to finish your session.</a:t>
            </a:r>
          </a:p>
          <a:p>
            <a:r>
              <a:t>Operating notes:</a:t>
            </a:r>
          </a:p>
          <a:p>
            <a:r>
              <a:t>If Invalid username or password appears, recheck the credentials. After too many failed attempts, wait before trying again or contact the administrator.</a:t>
            </a:r>
          </a:p>
          <a:p>
            <a:r>
              <a:t>The proposed sign-in screen will use administrator-managed password resets. Contact an administrator for a new temporary password.</a:t>
            </a:r>
          </a:p>
          <a:p>
            <a:r>
              <a:t>Your name and role will appear in the account menu, where Change Password will provide the self-service password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For a new or reset account, enter the Current or temporary password.</a:t>
            </a:r>
          </a:p>
          <a:p>
            <a:r>
              <a:t>Enter a New password with more than 8 characters, up to 72 bytes.</a:t>
            </a:r>
          </a:p>
          <a:p>
            <a:r>
              <a:t>Repeat it in Confirm new password, then select Set permanent password.</a:t>
            </a:r>
          </a:p>
          <a:p>
            <a:r>
              <a:t>Operating notes:</a:t>
            </a:r>
          </a:p>
          <a:p>
            <a:r>
              <a:t>The system will require this step before allowing access to the workspace.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Select Overview for your dashboard. On narrow screens, use Toggle navigation to show the sidebar.</a:t>
            </a:r>
          </a:p>
          <a:p>
            <a:r>
              <a:t>Check Accessible documents and Created by you for counts within your document access.</a:t>
            </a:r>
          </a:p>
          <a:p>
            <a:r>
              <a:t>Check Pending approvals and Outstanding handoffs for work assigned to you or your roles.</a:t>
            </a:r>
          </a:p>
          <a:p>
            <a:r>
              <a:t>Read Your document register and My request status to see document and request distributions.</a:t>
            </a:r>
          </a:p>
          <a:p>
            <a:r>
              <a:t>Use the left navigation for documents, My Requests, My Tasks, and permitted management pages; use the bell for Notifications.</a:t>
            </a:r>
          </a:p>
          <a:p>
            <a:r>
              <a:t>Operating notes:</a:t>
            </a:r>
          </a:p>
          <a:p>
            <a:r>
              <a:t>Dashboard numbers will reflect the signed-in user's authorized records and assigned work.</a:t>
            </a:r>
          </a:p>
          <a:p>
            <a:r>
              <a:t>Additional menus will appear only when the account has the corresponding permissions.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Hardcopy Documents or Softcopy Documents and choose Table or Folder.</a:t>
            </a:r>
          </a:p>
          <a:p>
            <a:r>
              <a:t>Use Search records, status, owner, and date filters. Select Clear to remove filters.</a:t>
            </a:r>
          </a:p>
          <a:p>
            <a:r>
              <a:t>Expand hardcopy Area → Specific → optional Asset → Location, or softcopy category folders. Use breadcrumbs and All Documents to change scope.</a:t>
            </a:r>
          </a:p>
          <a:p>
            <a:r>
              <a:t>Open a document title or View action for full details, related requests, approval history, and applicable file or transfer history.</a:t>
            </a:r>
          </a:p>
          <a:p>
            <a:r>
              <a:t>Use Rows per page, page arrows, and Recent / A–Z / Z–A ordering to browse long lists.</a:t>
            </a:r>
          </a:p>
          <a:p>
            <a:r>
              <a:t>Operating notes:</a:t>
            </a:r>
          </a:p>
          <a:p>
            <a:r>
              <a:t>The proposed hardcopy register will show Document Title, Location, Holder, and Status. The softcopy register will show Document Title, Document Number, Category, and Status.</a:t>
            </a:r>
          </a:p>
          <a:p>
            <a:r>
              <a:t>Only authorized folders and records will be available. The status filters will include Active, Disposed, and Cancelled.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Softcopy Documents and find the permitted active record.</a:t>
            </a:r>
          </a:p>
          <a:p>
            <a:r>
              <a:t>Select File History to inspect its available revision files.</a:t>
            </a:r>
          </a:p>
          <a:p>
            <a:r>
              <a:t>Select Download for an authorized copy of the current approved file.</a:t>
            </a:r>
          </a:p>
          <a:p>
            <a:r>
              <a:t>Select Print to open the controlled print preview.</a:t>
            </a:r>
          </a:p>
          <a:p>
            <a:r>
              <a:t>Operating notes:</a:t>
            </a:r>
          </a:p>
          <a:p>
            <a:r>
              <a:t>Available file actions depend on your permissions and document access.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File History on the intended softcopy record.</a:t>
            </a:r>
          </a:p>
          <a:p>
            <a:r>
              <a:t>Read the revision details and identify the current file.</a:t>
            </a:r>
          </a:p>
          <a:p>
            <a:r>
              <a:t>Use available Download or Print actions for files within your access.</a:t>
            </a:r>
          </a:p>
          <a:p>
            <a:r>
              <a:t>Select Close to return to the document register.</a:t>
            </a:r>
          </a:p>
          <a:p>
            <a:r>
              <a:t>Operating notes:</a:t>
            </a:r>
          </a:p>
          <a:p>
            <a:r>
              <a:t>Historical revision metadata can remain after retired file bytes are cleaned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Print from the authorized document file action.</a:t>
            </a:r>
          </a:p>
          <a:p>
            <a:r>
              <a:t>Wait for the PDF, image or text preview to prepare.</a:t>
            </a:r>
          </a:p>
          <a:p>
            <a:r>
              <a:t>Select Print when ready, then complete your browser's print dialog.</a:t>
            </a:r>
          </a:p>
          <a:p>
            <a:r>
              <a:t>Use Download when you need a permitted local copy.</a:t>
            </a:r>
          </a:p>
          <a:p>
            <a:r>
              <a:t>Operating notes:</a:t>
            </a:r>
          </a:p>
          <a:p>
            <a:r>
              <a:t>Office files use the downloaded file and an installed Office application for printing.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Choose the appropriate My Requests tab and select New Request; complete the action-specific fields.</a:t>
            </a:r>
          </a:p>
          <a:p>
            <a:r>
              <a:t>Save Draft → Confirm records the proposal. Open View to inspect metadata, any attachment, and its approval timeline.</a:t>
            </a:r>
          </a:p>
          <a:p>
            <a:r>
              <a:t>Select Submit → Confirm when ready. Submitted means the published approval workflow has started.</a:t>
            </a:r>
          </a:p>
          <a:p>
            <a:r>
              <a:t>For a request Returned to you, read the remarks, Edit, save, and Submit again.</a:t>
            </a:r>
          </a:p>
          <a:p>
            <a:r>
              <a:t>Cancel an unwanted Draft. Delete is permanent and is offered only for your cancelled, never-submitted draft.</a:t>
            </a:r>
          </a:p>
          <a:p>
            <a:r>
              <a:t>Operating notes:</a:t>
            </a:r>
          </a:p>
          <a:p>
            <a:r>
              <a:t>Request filters will include Draft, Submitted, Completed, Approved, Rejected, Returned, and Cancelled. An Approved transfer will still require the physical handoff steps.</a:t>
            </a:r>
          </a:p>
          <a:p>
            <a:r>
              <a:t>Only the requester will be able to edit their own draft or returned request. Submitted requests will remain protected from draft editing.</a:t>
            </a:r>
          </a:p>
          <a:p>
            <a:r>
              <a:t>Submission will require a published workflow. Resubmitting a returned request will retain its original workflow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Save Draft records your proposal without starting approval.</a:t>
            </a:r>
          </a:p>
          <a:p>
            <a:r>
              <a:t>Back in the request list, select Submit for the intended draft.</a:t>
            </a:r>
          </a:p>
          <a:p>
            <a:r>
              <a:t>Read the request confirmation and select Confirm to start the approval workflow.</a:t>
            </a:r>
          </a:p>
          <a:p>
            <a:r>
              <a:t>Check the request becomes Submitted, then inspect its Approval Process Timeline.</a:t>
            </a:r>
          </a:p>
          <a:p>
            <a:r>
              <a:t>Operating notes:</a:t>
            </a:r>
          </a:p>
          <a:p>
            <a:r>
              <a:t>Submit uses the shared Confirm dialog; it does not ask for an approval remark.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My Requests → Softcopy and select New Request.</a:t>
            </a:r>
          </a:p>
          <a:p>
            <a:r>
              <a:t>Choose Create Softcopy and enter Subject / Reason.</a:t>
            </a:r>
          </a:p>
          <a:p>
            <a:r>
              <a:t>Enter the proposed title, Document Number, optional Series Number, and Category.</a:t>
            </a:r>
          </a:p>
          <a:p>
            <a:r>
              <a:t>Attach the Document File, add Remarks if needed, and select Save Draft.</a:t>
            </a:r>
          </a:p>
          <a:p>
            <a:r>
              <a:t>Operating notes:</a:t>
            </a:r>
          </a:p>
          <a:p>
            <a:r>
              <a:t>Save Draft first. Submit only after checking the document, fields and attachment.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the saved draft and verify the selected document, fields, and attachment where required.</a:t>
            </a:r>
          </a:p>
          <a:p>
            <a:r>
              <a:t>Select Submit, read the shared confirmation, and select Confirm. The request enters its published approval route.</a:t>
            </a:r>
          </a:p>
          <a:p>
            <a:r>
              <a:t>The assigned approver opens My Tasks, reviews the proposal, and selects Approve → Confirm at each required step.</a:t>
            </a:r>
          </a:p>
          <a:p>
            <a:r>
              <a:t>After final approval, the new controlled softcopy will appear in Softcopy Documents. Expected status: Completed.</a:t>
            </a:r>
          </a:p>
          <a:p>
            <a:r>
              <a:t>Operating notes:</a:t>
            </a:r>
          </a:p>
          <a:p>
            <a:r>
              <a:t>The illustration shows the expected state for this sample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My Requests → Softcopy and select New Request.</a:t>
            </a:r>
          </a:p>
          <a:p>
            <a:r>
              <a:t>Choose Revise Softcopy and select the Existing Softcopy Document.</a:t>
            </a:r>
          </a:p>
          <a:p>
            <a:r>
              <a:t>Check the proposed title; enter New Revision Level and Number of Pages.</a:t>
            </a:r>
          </a:p>
          <a:p>
            <a:r>
              <a:t>Choose an optional Effective Date, attach the revised file, then Save Draft.</a:t>
            </a:r>
          </a:p>
          <a:p>
            <a:r>
              <a:t>Operating notes:</a:t>
            </a:r>
          </a:p>
          <a:p>
            <a:r>
              <a:t>Save Draft first. Submit only after checking the document, fields and attachment.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the saved draft and verify the selected document, fields, and attachment where required.</a:t>
            </a:r>
          </a:p>
          <a:p>
            <a:r>
              <a:t>Select Submit, read the shared confirmation, and select Confirm. The request enters its published approval route.</a:t>
            </a:r>
          </a:p>
          <a:p>
            <a:r>
              <a:t>The assigned approver opens My Tasks, reviews the proposal, and selects Approve → Confirm at each required step.</a:t>
            </a:r>
          </a:p>
          <a:p>
            <a:r>
              <a:t>The approved revision will become the current controlled file; check the revision and File History. Expected status: Completed.</a:t>
            </a:r>
          </a:p>
          <a:p>
            <a:r>
              <a:t>Operating notes:</a:t>
            </a:r>
          </a:p>
          <a:p>
            <a:r>
              <a:t>The illustration shows the expected state for this sample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My Requests → Softcopy and select New Request.</a:t>
            </a:r>
          </a:p>
          <a:p>
            <a:r>
              <a:t>Choose Cancel Softcopy and select the Existing Softcopy Document.</a:t>
            </a:r>
          </a:p>
          <a:p>
            <a:r>
              <a:t>Enter Subject / Reason and any Remarks explaining the cancellation.</a:t>
            </a:r>
          </a:p>
          <a:p>
            <a:r>
              <a:t>Save Draft, check the selected record, and submit the proposal.</a:t>
            </a:r>
          </a:p>
          <a:p>
            <a:r>
              <a:t>Operating notes:</a:t>
            </a:r>
          </a:p>
          <a:p>
            <a:r>
              <a:t>Save Draft first. Submit only after checking the document, fields and attachment.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the saved draft and verify the selected document, fields, and attachment where required.</a:t>
            </a:r>
          </a:p>
          <a:p>
            <a:r>
              <a:t>Select Submit, read the shared confirmation, and select Confirm. The request enters its published approval route.</a:t>
            </a:r>
          </a:p>
          <a:p>
            <a:r>
              <a:t>The assigned approver opens My Tasks, reviews the proposal, and selects Approve → Confirm at each required step.</a:t>
            </a:r>
          </a:p>
          <a:p>
            <a:r>
              <a:t>Final approval will cancel the controlled softcopy; use the Cancelled status filter to inspect it. Expected status: Completed.</a:t>
            </a:r>
          </a:p>
          <a:p>
            <a:r>
              <a:t>Operating notes:</a:t>
            </a:r>
          </a:p>
          <a:p>
            <a:r>
              <a:t>The illustration shows the expected state for this sample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My Requests → Hardcopy and select New Request.</a:t>
            </a:r>
          </a:p>
          <a:p>
            <a:r>
              <a:t>Choose Create Hardcopy and enter Subject / Reason and Document Title.</a:t>
            </a:r>
          </a:p>
          <a:p>
            <a:r>
              <a:t>Select Area, Specific, optional Asset, Location, and check Current Holder.</a:t>
            </a:r>
          </a:p>
          <a:p>
            <a:r>
              <a:t>Optionally enable retention monitoring, then enter both Start and End dates (End on/after Start). Add notes and Save Draft.</a:t>
            </a:r>
          </a:p>
          <a:p>
            <a:r>
              <a:t>Operating notes:</a:t>
            </a:r>
          </a:p>
          <a:p>
            <a:r>
              <a:t>Save Draft first. Submit only after checking the document, fields and attachment.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the saved draft and verify the selected document, fields, and attachment where required.</a:t>
            </a:r>
          </a:p>
          <a:p>
            <a:r>
              <a:t>Select Submit, read the shared confirmation, and select Confirm. The request enters its published approval route.</a:t>
            </a:r>
          </a:p>
          <a:p>
            <a:r>
              <a:t>The assigned approver opens My Tasks, reviews the proposal, and selects Approve → Confirm at each required step.</a:t>
            </a:r>
          </a:p>
          <a:p>
            <a:r>
              <a:t>The new hardcopy will appear with its approved storage hierarchy and holder. Expected status: Completed.</a:t>
            </a:r>
          </a:p>
          <a:p>
            <a:r>
              <a:t>Operating notes:</a:t>
            </a:r>
          </a:p>
          <a:p>
            <a:r>
              <a:t>The illustration shows the expected state for this sample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My Requests → Hardcopy and select New Request.</a:t>
            </a:r>
          </a:p>
          <a:p>
            <a:r>
              <a:t>Choose Update Hardcopy and select the Existing Hardcopy Document.</a:t>
            </a:r>
          </a:p>
          <a:p>
            <a:r>
              <a:t>Check Document Title, Area, Specific, optional Asset, Location, and Current Holder.</a:t>
            </a:r>
          </a:p>
          <a:p>
            <a:r>
              <a:t>Update the intended metadata or retention information, then Save Draft.</a:t>
            </a:r>
          </a:p>
          <a:p>
            <a:r>
              <a:t>Operating notes:</a:t>
            </a:r>
          </a:p>
          <a:p>
            <a:r>
              <a:t>Save Draft first. Submit only after checking the document, fields and attachment.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the saved draft and verify the selected document, fields, and attachment where required.</a:t>
            </a:r>
          </a:p>
          <a:p>
            <a:r>
              <a:t>Select Submit, read the shared confirmation, and select Confirm. The request enters its published approval route.</a:t>
            </a:r>
          </a:p>
          <a:p>
            <a:r>
              <a:t>The assigned approver opens My Tasks, reviews the proposal, and selects Approve → Confirm at each required step.</a:t>
            </a:r>
          </a:p>
          <a:p>
            <a:r>
              <a:t>Final approval will apply the hardcopy metadata; inspect the changed storage or retention fields. Expected status: Completed.</a:t>
            </a:r>
          </a:p>
          <a:p>
            <a:r>
              <a:t>Operating notes:</a:t>
            </a:r>
          </a:p>
          <a:p>
            <a:r>
              <a:t>The illustration shows the expected state for this sample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My Requests → Document Access Grants and select New Request.</a:t>
            </a:r>
          </a:p>
          <a:p>
            <a:r>
              <a:t>Enter Subject in the Document Access Grant form.</a:t>
            </a:r>
          </a:p>
          <a:p>
            <a:r>
              <a:t>Choose Document Type, select the document, and check your read-only Recipient field.</a:t>
            </a:r>
          </a:p>
          <a:p>
            <a:r>
              <a:t>Set Access Expires At after today, allowing time for approval; add optional Remarks, then Save Draft.</a:t>
            </a:r>
          </a:p>
          <a:p>
            <a:r>
              <a:t>Operating notes:</a:t>
            </a:r>
          </a:p>
          <a:p>
            <a:r>
              <a:t>Save Draft first. Submit only after checking the document, fields and attachment.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the saved draft and verify the selected document, fields, and attachment where required.</a:t>
            </a:r>
          </a:p>
          <a:p>
            <a:r>
              <a:t>Select Submit, read the shared confirmation, and select Confirm. The request enters its published approval route.</a:t>
            </a:r>
          </a:p>
          <a:p>
            <a:r>
              <a:t>The assigned approver opens My Tasks, reviews the proposal, and selects Approve → Confirm at each required step.</a:t>
            </a:r>
          </a:p>
          <a:p>
            <a:r>
              <a:t>The approved grant will give the signed-in recipient access to the selected document until expiry. Expected status: Completed.</a:t>
            </a:r>
          </a:p>
          <a:p>
            <a:r>
              <a:t>Operating notes:</a:t>
            </a:r>
          </a:p>
          <a:p>
            <a:r>
              <a:t>The illustration shows the expected state for this sample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My Requests → Document Assignments and select New Request.</a:t>
            </a:r>
          </a:p>
          <a:p>
            <a:r>
              <a:t>Choose Document Assignments and enter Subject.</a:t>
            </a:r>
          </a:p>
          <a:p>
            <a:r>
              <a:t>Choose Document Type and select the document to be assigned to you.</a:t>
            </a:r>
          </a:p>
          <a:p>
            <a:r>
              <a:t>Check your read-only Recipient / Assigned User, add optional Remarks, then Save Draft.</a:t>
            </a:r>
          </a:p>
          <a:p>
            <a:r>
              <a:t>Operating notes:</a:t>
            </a:r>
          </a:p>
          <a:p>
            <a:r>
              <a:t>Save Draft first. Submit only after checking the document, fields and attachment.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the saved draft and verify the selected document, fields, and attachment where required.</a:t>
            </a:r>
          </a:p>
          <a:p>
            <a:r>
              <a:t>Select Submit, read the shared confirmation, and select Confirm. The request enters its published approval route.</a:t>
            </a:r>
          </a:p>
          <a:p>
            <a:r>
              <a:t>The assigned approver opens My Tasks, reviews the proposal, and selects Approve → Confirm at each required step.</a:t>
            </a:r>
          </a:p>
          <a:p>
            <a:r>
              <a:t>The approved assignment will apply to the selected document and signed-in recipient. Expected status: Completed.</a:t>
            </a:r>
          </a:p>
          <a:p>
            <a:r>
              <a:t>Operating notes:</a:t>
            </a:r>
          </a:p>
          <a:p>
            <a:r>
              <a:t>The illustration shows the expected state for this sample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My Requests → Hardcopy Transfer and select New Request.</a:t>
            </a:r>
          </a:p>
          <a:p>
            <a:r>
              <a:t>Select the Hardcopy Document and check Original Places and Holder.</a:t>
            </a:r>
          </a:p>
          <a:p>
            <a:r>
              <a:t>Choose the destination hierarchy and Receiving User; destination must differ from the original.</a:t>
            </a:r>
          </a:p>
          <a:p>
            <a:r>
              <a:t>Enter Request Subject and optional Remarks, then Save Draft.</a:t>
            </a:r>
          </a:p>
          <a:p>
            <a:r>
              <a:t>Operating notes:</a:t>
            </a:r>
          </a:p>
          <a:p>
            <a:r>
              <a:t>Save Draft first. Submit only after checking the document, fields and attachment.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Scroll down within the New Request form to the destination fields.</a:t>
            </a:r>
          </a:p>
          <a:p>
            <a:r>
              <a:t>Select the destination hierarchy and Receiving User; the destination must differ from the original.</a:t>
            </a:r>
          </a:p>
          <a:p>
            <a:r>
              <a:t>Enter Request Subject and any Remarks, then select Save Draft.</a:t>
            </a:r>
          </a:p>
          <a:p>
            <a:r>
              <a:t>Operating notes:</a:t>
            </a:r>
          </a:p>
          <a:p>
            <a:r>
              <a:t>Approval will authorize the handoff. Dispatch and receipt will be recorded separately.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the saved draft and verify the selected document, fields, and attachment where required.</a:t>
            </a:r>
          </a:p>
          <a:p>
            <a:r>
              <a:t>Select Submit, read the shared confirmation, and select Confirm. The request enters its published approval route.</a:t>
            </a:r>
          </a:p>
          <a:p>
            <a:r>
              <a:t>The assigned approver opens My Tasks, reviews the proposal, and selects Approve → Confirm at each required step.</a:t>
            </a:r>
          </a:p>
          <a:p>
            <a:r>
              <a:t>Approval will create the handoff work. Complete Dispatch and recipient Accept to record physical receipt. Expected status: Approved.</a:t>
            </a:r>
          </a:p>
          <a:p>
            <a:r>
              <a:t>Operating notes:</a:t>
            </a:r>
          </a:p>
          <a:p>
            <a:r>
              <a:t>The illustration shows the expected state for this sample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My Requests → Hardcopy Disposal and select New Request.</a:t>
            </a:r>
          </a:p>
          <a:p>
            <a:r>
              <a:t>Choose Hardcopy Disposal, enter Subject / Reason, and select the document.</a:t>
            </a:r>
          </a:p>
          <a:p>
            <a:r>
              <a:t>Choose Disposal Reason: Shred, Scratch, or Other. Complete Other Reason if selected.</a:t>
            </a:r>
          </a:p>
          <a:p>
            <a:r>
              <a:t>Add optional Remarks, Save Draft, then review and submit the proposal.</a:t>
            </a:r>
          </a:p>
          <a:p>
            <a:r>
              <a:t>Operating notes:</a:t>
            </a:r>
          </a:p>
          <a:p>
            <a:r>
              <a:t>Save Draft first. Submit only after checking the document, fields and attachment.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the saved draft and verify the selected document, fields, and attachment where required.</a:t>
            </a:r>
          </a:p>
          <a:p>
            <a:r>
              <a:t>Select Submit, read the shared confirmation, and select Confirm. The request enters its published approval route.</a:t>
            </a:r>
          </a:p>
          <a:p>
            <a:r>
              <a:t>The assigned approver opens My Tasks, reviews the proposal, and selects Approve → Confirm at each required step.</a:t>
            </a:r>
          </a:p>
          <a:p>
            <a:r>
              <a:t>The record will become Disposed; inspect Disposal Details and the selected reason in the register. Expected status: Completed.</a:t>
            </a:r>
          </a:p>
          <a:p>
            <a:r>
              <a:t>Operating notes:</a:t>
            </a:r>
          </a:p>
          <a:p>
            <a:r>
              <a:t>The illustration shows the expected state for this sample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My Tasks, choose a category, and open the assigned request's View details.</a:t>
            </a:r>
          </a:p>
          <a:p>
            <a:r>
              <a:t>Read the proposal, Approval Process Timeline, and Workflow Activity Log; use Review File for an attached softcopy.</a:t>
            </a:r>
          </a:p>
          <a:p>
            <a:r>
              <a:t>Choose Approve → Confirm to move the current step forward.</a:t>
            </a:r>
          </a:p>
          <a:p>
            <a:r>
              <a:t>Choose Return or Reject, enter an optional Remark, then Continue to record the decision.</a:t>
            </a:r>
          </a:p>
          <a:p>
            <a:r>
              <a:t>Inspect the updated timeline. Return at step one sends to the requester; later-step Return reactivates the previous approver.</a:t>
            </a:r>
          </a:p>
          <a:p>
            <a:r>
              <a:t>Operating notes:</a:t>
            </a:r>
          </a:p>
          <a:p>
            <a:r>
              <a:t>Only the currently assigned approver, or an authorized member of the assigned role, may decide.</a:t>
            </a:r>
          </a:p>
          <a:p>
            <a:r>
              <a:t>Return at the first approval step will send the request to its requester for correction. Return at a later step will reactivate the immediately previous approver.</a:t>
            </a:r>
          </a:p>
          <a:p>
            <a:r>
              <a:t>Review File will open the proposal for inspection. Use the task's decision buttons to record approval.</a:t>
            </a:r>
          </a:p>
          <a:p>
            <a:r>
              <a:t>Editing a review copy in Word, Excel, or WPS will not update the proposal attachment or controlled document. If an application link expires, refresh Review File to obtain a new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the assigned request in My Tasks and inspect the proposal and file.</a:t>
            </a:r>
          </a:p>
          <a:p>
            <a:r>
              <a:t>Select Approve for the active task.</a:t>
            </a:r>
          </a:p>
          <a:p>
            <a:r>
              <a:t>Read the shared confirmation and select Confirm.</a:t>
            </a:r>
          </a:p>
          <a:p>
            <a:r>
              <a:t>Check the next step or completed result in the Approval Process Timeline.</a:t>
            </a:r>
          </a:p>
          <a:p>
            <a:r>
              <a:t>Operating notes:</a:t>
            </a:r>
          </a:p>
          <a:p>
            <a:r>
              <a:t>Approve uses Confirm directly. It does not open a remark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At the first active step, select Return.</a:t>
            </a:r>
          </a:p>
          <a:p>
            <a:r>
              <a:t>Enter an optional Remark explaining what needs attention.</a:t>
            </a:r>
          </a:p>
          <a:p>
            <a:r>
              <a:t>Select Continue. This records the Return decision.</a:t>
            </a:r>
          </a:p>
          <a:p>
            <a:r>
              <a:t>The request becomes Returned to its requester, who may edit, save, and resubmit it.</a:t>
            </a:r>
          </a:p>
          <a:p>
            <a:r>
              <a:t>Operating notes:</a:t>
            </a:r>
          </a:p>
          <a:p>
            <a:r>
              <a:t>Continue in the Return dialog is the confirmation; no second Confirm dialog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Select Return when an earlier review needs to be reconsidered.</a:t>
            </a:r>
          </a:p>
          <a:p>
            <a:r>
              <a:t>Add an optional Remark and select Continue.</a:t>
            </a:r>
          </a:p>
          <a:p>
            <a:r>
              <a:t>The immediately previous approver becomes active again.</a:t>
            </a:r>
          </a:p>
          <a:p>
            <a:r>
              <a:t>After that approver approves again, the request returns to the step that returned it.</a:t>
            </a:r>
          </a:p>
          <a:p>
            <a:r>
              <a:t>Operating notes:</a:t>
            </a:r>
          </a:p>
          <a:p>
            <a:r>
              <a:t>A later-step Return keeps the request Submitted; it does not send an editable draft to the requester.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Review the proposal and choose Reject when it should stop.</a:t>
            </a:r>
          </a:p>
          <a:p>
            <a:r>
              <a:t>Enter an optional Remark that explains the decision.</a:t>
            </a:r>
          </a:p>
          <a:p>
            <a:r>
              <a:t>Select Continue to record the rejection.</a:t>
            </a:r>
          </a:p>
          <a:p>
            <a:r>
              <a:t>Check Rejected in the request status and read the decision in the activity log.</a:t>
            </a:r>
          </a:p>
          <a:p>
            <a:r>
              <a:t>Operating notes:</a:t>
            </a:r>
          </a:p>
          <a:p>
            <a:r>
              <a:t>Rejected proposals are not completed document changes and are not editable returned drafts.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your own Draft in My Requests and select Cancel.</a:t>
            </a:r>
          </a:p>
          <a:p>
            <a:r>
              <a:t>Confirm the cancellation and check the Cancelled status.</a:t>
            </a:r>
          </a:p>
          <a:p>
            <a:r>
              <a:t>If Delete is offered, check that this is the draft you intend to remove permanently.</a:t>
            </a:r>
          </a:p>
          <a:p>
            <a:r>
              <a:t>Select Delete and confirm. Only your cancelled, never-submitted draft is eligible.</a:t>
            </a:r>
          </a:p>
          <a:p>
            <a:r>
              <a:t>Operating notes:</a:t>
            </a:r>
          </a:p>
          <a:p>
            <a:r>
              <a:t>Permanent draft deletion cannot be undone. It is not an operation on an approved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My Tasks → Hardcopy Transfer and find Physical Transfer Handoffs.</a:t>
            </a:r>
          </a:p>
          <a:p>
            <a:r>
              <a:t>Check the document, requester, current holder, recipient, and stage.</a:t>
            </a:r>
          </a:p>
          <a:p>
            <a:r>
              <a:t>The requester selects Dispatch at physical release, then Confirm.</a:t>
            </a:r>
          </a:p>
          <a:p>
            <a:r>
              <a:t>After physical receipt, the recipient selects Accept for the In Transit handoff, then Confirm.</a:t>
            </a:r>
          </a:p>
          <a:p>
            <a:r>
              <a:t>Inspect the updated holder, location, and Transfer History in Hardcopy Documents.</a:t>
            </a:r>
          </a:p>
          <a:p>
            <a:r>
              <a:t>Operating notes:</a:t>
            </a:r>
          </a:p>
          <a:p>
            <a:r>
              <a:t>Only the transfer requester can dispatch. Only the destination recipient can accept.</a:t>
            </a:r>
          </a:p>
          <a:p>
            <a:r>
              <a:t>Accept will confirm physical receipt and update custody and location. Record these actions when the physical handoff occurs.</a:t>
            </a:r>
          </a:p>
          <a:p>
            <a:r>
              <a:t>Users may receive dispatch or receipt tasks even when they are not general workflow approvers.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After approval, open My Tasks → Hardcopy Transfer.</a:t>
            </a:r>
          </a:p>
          <a:p>
            <a:r>
              <a:t>The requester locates the intended Physical Transfer Handoff.</a:t>
            </a:r>
          </a:p>
          <a:p>
            <a:r>
              <a:t>Select Dispatch at physical release, then select Confirm.</a:t>
            </a:r>
          </a:p>
          <a:p>
            <a:r>
              <a:t>Check that the handoff awaits the receiving user's acceptance.</a:t>
            </a:r>
          </a:p>
          <a:p>
            <a:r>
              <a:t>Operating notes:</a:t>
            </a:r>
          </a:p>
          <a:p>
            <a:r>
              <a:t>Only the transfer requester can dispatch.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The receiving user opens the in-transit handoff.</a:t>
            </a:r>
          </a:p>
          <a:p>
            <a:r>
              <a:t>After checking the physical record, select Accept → Confirm.</a:t>
            </a:r>
          </a:p>
          <a:p>
            <a:r>
              <a:t>Inspect the updated holder and location in Hardcopy Documents.</a:t>
            </a:r>
          </a:p>
          <a:p>
            <a:r>
              <a:t>Use Transfer History when confirming the recorded handoff.</a:t>
            </a:r>
          </a:p>
          <a:p>
            <a:r>
              <a:t>Operating notes:</a:t>
            </a:r>
          </a:p>
          <a:p>
            <a:r>
              <a:t>The receiving user's acceptance completes physical receipt and updates custody.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the bell to read Notifications and their Request Reference, title, and approval label.</a:t>
            </a:r>
          </a:p>
          <a:p>
            <a:r>
              <a:t>Select an entry to mark that notification read and open the matching My Tasks list.</a:t>
            </a:r>
          </a:p>
          <a:p>
            <a:r>
              <a:t>Use Previous, Next, and Rows for additional notification pages.</a:t>
            </a:r>
          </a:p>
          <a:p>
            <a:r>
              <a:t>If Approval needed appears, inspect its new-task links or select Got it.</a:t>
            </a:r>
          </a:p>
          <a:p>
            <a:r>
              <a:t>Use My Tasks to record the actual decision or handoff; reading a notice does not approve it.</a:t>
            </a:r>
          </a:p>
          <a:p>
            <a:r>
              <a:t>Operating notes:</a:t>
            </a:r>
          </a:p>
          <a:p>
            <a:r>
              <a:t>Selecting an entry will acknowledge that notification. Opening the panel alone will leave unread entries unacknowledged.</a:t>
            </a:r>
          </a:p>
          <a:p>
            <a:r>
              <a:t>Reading or dismissing a notification will not approve or reject its request.</a:t>
            </a:r>
          </a:p>
          <a:p>
            <a:r>
              <a:t>No unread notifications means the inbox has no unread entries; continue to use My Tasks to check current assigned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the permitted document register. Direct actions require the corresponding direct permission.</a:t>
            </a:r>
          </a:p>
          <a:p>
            <a:r>
              <a:t>For a hardcopy, select Hardcopy Direct and complete title, storage hierarchy, holder, and optional retention or notes.</a:t>
            </a:r>
          </a:p>
          <a:p>
            <a:r>
              <a:t>Select Save Document → Confirm, then inspect the saved record.</a:t>
            </a:r>
          </a:p>
          <a:p>
            <a:r>
              <a:t>For a softcopy, choose Softcopy Direct, select the action, and complete the visible fields; Create and Revise require a file.</a:t>
            </a:r>
          </a:p>
          <a:p>
            <a:r>
              <a:t>Select Approve Directly → Confirm. Edit an active record or use Dispose with a disposal reason only when those actions are permitted.</a:t>
            </a:r>
          </a:p>
          <a:p>
            <a:r>
              <a:t>Operating notes:</a:t>
            </a:r>
          </a:p>
          <a:p>
            <a:r>
              <a:t>An authorized direct softcopy action will be approved and applied immediately. Use My Requests when approval through the workflow is required.</a:t>
            </a:r>
          </a:p>
          <a:p>
            <a:r>
              <a:t>Edit and Dispose require an active record within the operator's permitted scope. Dispose also requires direct disposal permission.</a:t>
            </a:r>
          </a:p>
          <a:p>
            <a:r>
              <a:t>The hardcopy holder will be fixed to an ordinary user's account; administrators will be able to select a 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Softcopy Documents and select Softcopy Direct.</a:t>
            </a:r>
          </a:p>
          <a:p>
            <a:r>
              <a:t>Choose Create Softcopy, Revise Softcopy, or Cancel Softcopy.</a:t>
            </a:r>
          </a:p>
          <a:p>
            <a:r>
              <a:t>Complete the action-specific fields and attach a file for Create or Revise.</a:t>
            </a:r>
          </a:p>
          <a:p>
            <a:r>
              <a:t>Select Approve Directly, then Confirm. Inspect the resulting record.</a:t>
            </a:r>
          </a:p>
          <a:p>
            <a:r>
              <a:t>Operating notes:</a:t>
            </a:r>
          </a:p>
          <a:p>
            <a:r>
              <a:t>Direct actions require the appropriate permission and apply the change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Document Assignments and choose Hardcopy / Places or Softcopy / Categories.</a:t>
            </a:r>
          </a:p>
          <a:p>
            <a:r>
              <a:t>Select Assign Document, choose the document and Assigned User, then Save Assignment → Confirm.</a:t>
            </a:r>
          </a:p>
          <a:p>
            <a:r>
              <a:t>Use Edit to select an Assigned User. Hardcopy replaces Current Holder; softcopy adds the selected user and retains earlier assignees.</a:t>
            </a:r>
          </a:p>
          <a:p>
            <a:r>
              <a:t>For a bulk hardcopy assignment, select Location and Assigned User, then Assign All → Confirm. Complete active transfers first.</a:t>
            </a:r>
          </a:p>
          <a:p>
            <a:r>
              <a:t>For softcopies, select Category / Subcategory and Assigned User, then Assign All → Confirm; subcategories are included.</a:t>
            </a:r>
          </a:p>
          <a:p>
            <a:r>
              <a:t>Operating notes:</a:t>
            </a:r>
          </a:p>
          <a:p>
            <a:r>
              <a:t>This page applies assignments directly and requires direct assignment permission. Approval-based assignment requests remain in My Requests → Document Assignments.</a:t>
            </a:r>
          </a:p>
          <a:p>
            <a:r>
              <a:t>Read the selected location or category carefully before confirming Assign All, because it applies to multiple active records.</a:t>
            </a:r>
          </a:p>
          <a:p>
            <a:r>
              <a:t>Hardcopy assignment will change Current Holder immediately without dispatch or receipt steps. Softcopy assignment will preserve earlier users' assignments when a different user is selected.</a:t>
            </a:r>
          </a:p>
          <a:p>
            <a:r>
              <a:t>Complete active hardcopy handoffs before reassigning affected records. The system will block single and bulk hardcopy assignments while an affected record has an active transfer.</a:t>
            </a:r>
          </a:p>
          <a:p>
            <a:r>
              <a:t>Assign All will support up to 2,000 active records in the selected location or category branch. Use individual assignments or a smaller category branch when the selection exceeds this limit.</a:t>
            </a:r>
          </a:p>
          <a:p>
            <a:r>
              <a:t>Physical transfer requests have their own approval, dispatch, and acceptance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Setup Places and choose Area, Specific, Asset, Location, or Softcopy Categories.</a:t>
            </a:r>
          </a:p>
          <a:p>
            <a:r>
              <a:t>Use Add or Edit. Maintain Area → Specific → optional Asset before selecting Location.</a:t>
            </a:r>
          </a:p>
          <a:p>
            <a:r>
              <a:t>For Location, enter Location Name, Area, Specific, optional Asset Number, and optional Sequence or Archive Date.</a:t>
            </a:r>
          </a:p>
          <a:p>
            <a:r>
              <a:t>For Softcopy Categories, enter Name, Folder, optional Description, and Parent for a subcategory.</a:t>
            </a:r>
          </a:p>
          <a:p>
            <a:r>
              <a:t>Check Active, then Save Record → Confirm. Deactivate an unused reference item to preserve its historical links.</a:t>
            </a:r>
          </a:p>
          <a:p>
            <a:r>
              <a:t>Operating notes:</a:t>
            </a:r>
          </a:p>
          <a:p>
            <a:r>
              <a:t>Only tabs and actions permitted for the signed-in account will be shown.</a:t>
            </a:r>
          </a:p>
          <a:p>
            <a:r>
              <a:t>A Location can be saved without an Asset Number. Keep Area and Specific consistent when choosing children.</a:t>
            </a:r>
          </a:p>
          <a:p>
            <a:r>
              <a:t>Deactivating reference data is different from disposing of a document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User Management and select Add User or Edit an existing eligible account.</a:t>
            </a:r>
          </a:p>
          <a:p>
            <a:r>
              <a:t>Complete First Name, optional Middle Name, Last Name, Username, and Position Title.</a:t>
            </a:r>
          </a:p>
          <a:p>
            <a:r>
              <a:t>Choose Primary role and Assigned roles; select an optional Leader when the workflow needs one.</a:t>
            </a:r>
          </a:p>
          <a:p>
            <a:r>
              <a:t>Check Active account, then Save User → Confirm. New-account credentials appear once; share privately with the owner.</a:t>
            </a:r>
          </a:p>
          <a:p>
            <a:r>
              <a:t>Use Generate a new temporary password for a reset, Deactivate to disable an eligible account, or Assigned Documents to inspect assignments.</a:t>
            </a:r>
          </a:p>
          <a:p>
            <a:r>
              <a:t>Operating notes:</a:t>
            </a:r>
          </a:p>
          <a:p>
            <a:r>
              <a:t>A temporary password will be displayed once after saving. The user will be required to replace it before accessing protected modules.</a:t>
            </a:r>
          </a:p>
          <a:p>
            <a:r>
              <a:t>Leader will be optional in account data. An active leader will be required when a request's workflow uses Requester's leader.</a:t>
            </a:r>
          </a:p>
          <a:p>
            <a:r>
              <a:t>Account permissions will restrict available actions. Users will not be able to deactivate themselves, and administrator accounts will receive additional protection.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Roles &amp; Permissions; search or filter to find the role.</a:t>
            </a:r>
          </a:p>
          <a:p>
            <a:r>
              <a:t>Select Add Role or Edit and enter Role Name; check Active role as appropriate.</a:t>
            </a:r>
          </a:p>
          <a:p>
            <a:r>
              <a:t>Under Module Permissions, select only the actions needed for this role.</a:t>
            </a:r>
          </a:p>
          <a:p>
            <a:r>
              <a:t>Select Save Role → Confirm, then assign the role to users in User Management.</a:t>
            </a:r>
          </a:p>
          <a:p>
            <a:r>
              <a:t>Use Deactivate or permanent Remove only when offered for an unused role, and read the confirmation carefully.</a:t>
            </a:r>
          </a:p>
          <a:p>
            <a:r>
              <a:t>Operating notes:</a:t>
            </a:r>
          </a:p>
          <a:p>
            <a:r>
              <a:t>Permissions will control both visible menus and individual actions such as direct changes, requests, downloads, and printing.</a:t>
            </a:r>
          </a:p>
          <a:p>
            <a:r>
              <a:t>Document access and the active workflow assignment will determine which records or tasks a user can act on.</a:t>
            </a:r>
          </a:p>
          <a:p>
            <a:r>
              <a:t>Deactivation and permanent removal are separate actions; read the confirmation before continuing.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Workflow Builder, find the Request Type, and open Steps. Use Workflow Version to inspect the route.</a:t>
            </a:r>
          </a:p>
          <a:p>
            <a:r>
              <a:t>Select Start First Draft or Create Next Draft; published versions are read-only.</a:t>
            </a:r>
          </a:p>
          <a:p>
            <a:r>
              <a:t>Add Approval Step, enter its name, and select a role, specific user, Requester's leader, or Requester account; Save Step → Confirm.</a:t>
            </a:r>
          </a:p>
          <a:p>
            <a:r>
              <a:t>Edit, move, or remove draft steps until the order is correct, then Validate &amp; Publish → Confirm.</a:t>
            </a:r>
          </a:p>
          <a:p>
            <a:r>
              <a:t>Check the published default. Future requests will use it; previously submitted requests will retain their original approval timeline.</a:t>
            </a:r>
          </a:p>
          <a:p>
            <a:r>
              <a:t>Operating notes:</a:t>
            </a:r>
          </a:p>
          <a:p>
            <a:r>
              <a:t>A workflow will support up to 30 approval steps and will require an approval route before publication.</a:t>
            </a:r>
          </a:p>
          <a:p>
            <a:r>
              <a:t>The system will resolve Requester and Requester's leader at submission. Ensure the relevant accounts, roles, and leaders are active.</a:t>
            </a:r>
          </a:p>
          <a:p>
            <a:r>
              <a:t>Publishing will set the route for future requests. Previously submitted requests, including returned requests that are resubmitted, will retain their original approval timeline.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Internal Audit Trail and search for the relevant user, action, or subject.</a:t>
            </a:r>
          </a:p>
          <a:p>
            <a:r>
              <a:t>Filter All Results, Success, or Failed and choose the required date period.</a:t>
            </a:r>
          </a:p>
          <a:p>
            <a:r>
              <a:t>Read Recorded At, User, Action, Subject, and Result.</a:t>
            </a:r>
          </a:p>
          <a:p>
            <a:r>
              <a:t>Open View for Audit Event details, including User ID and recorded Details; select Close when finished.</a:t>
            </a:r>
          </a:p>
          <a:p>
            <a:r>
              <a:t>For document-specific evidence, also inspect its Approval History, Related Requests, or Transfer History.</a:t>
            </a:r>
          </a:p>
          <a:p>
            <a:r>
              <a:t>Operating notes:</a:t>
            </a:r>
          </a:p>
          <a:p>
            <a:r>
              <a:t>The proposed audit page will provide read-only inspection of events, without edit or delete operations.</a:t>
            </a:r>
          </a:p>
          <a:p>
            <a:r>
              <a:t>If a warning is shown on the page, include it when reporting an investigation to the administrator.</a:t>
            </a:r>
          </a:p>
          <a:p>
            <a:r>
              <a:t>The proposed navigation will provide Internal Audit Trail and Overview charts. The planned screens will not include a separate Reports menu or report-export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procedure:</a:t>
            </a:r>
          </a:p>
          <a:p>
            <a:r>
              <a:t>Open Backup &amp; Restore and check readiness. The example shows incomplete setup, disabled Backup now, and an empty archive list.</a:t>
            </a:r>
          </a:p>
          <a:p>
            <a:r>
              <a:t>Have the administrator complete configuration and readiness checks before using backup or restore. The planned daily schedule is 5:00 PM, Asia/Manila.</a:t>
            </a:r>
          </a:p>
          <a:p>
            <a:r>
              <a:t>After setup, select Backup now then Confirm. Check the resulting archive; Download or Import backup will require a ready setup and permission.</a:t>
            </a:r>
          </a:p>
          <a:p>
            <a:r>
              <a:t>To restore when ready, choose Backup to restore, enter Your password and RESTORE, then Restore selected backup then Confirm. A recovery backup will be created first.</a:t>
            </a:r>
          </a:p>
          <a:p>
            <a:r>
              <a:t>Use Clean up then Confirm for backup and log archives older than three months. Check archive dates after backup runs.</a:t>
            </a:r>
          </a:p>
          <a:p>
            <a:r>
              <a:t>Operating notes:</a:t>
            </a:r>
          </a:p>
          <a:p>
            <a:r>
              <a:t>Backup and restore will require administrator configuration and readiness checks before use. The setup-incomplete example will illustrate this prerequisite; it will not represent a completed backup.</a:t>
            </a:r>
          </a:p>
          <a:p>
            <a:r>
              <a:t>After setup, backup actions will require edit permission. Restoring will replace live records and private files and will create a recovery backup first. Follow the organization's recovery procedure.</a:t>
            </a:r>
          </a:p>
          <a:p>
            <a:r>
              <a:t>The schedule will describe the intended run time. Check the resulting archive and recorded time after each run before treating that recovery point as 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5" name="Rectangle 4"/>
          <p:cNvSpPr/>
          <p:nvPr/>
        </p:nvSpPr>
        <p:spPr>
          <a:xfrm>
            <a:off x="0" y="82296"/>
            <a:ext cx="12191999" cy="6775704"/>
          </a:xfrm>
          <a:prstGeom prst="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30352" y="704088"/>
            <a:ext cx="2304288" cy="310896"/>
          </a:xfrm>
          <a:prstGeom prst="roundRect">
            <a:avLst>
              <a:gd name="adj" fmla="val 12000"/>
            </a:avLst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77724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Calibri"/>
              </a:rPr>
              <a:t>PROPOSED OPERATING PROCEDURES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32588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PK Document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79776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5B8C9"/>
                </a:solidFill>
                <a:latin typeface="Calibri"/>
              </a:rPr>
              <a:t>PROPOSED USER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" y="3630168"/>
            <a:ext cx="4709160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D8E3F0"/>
                </a:solidFill>
                <a:latin typeface="Calibri"/>
              </a:rPr>
              <a:t>Find controlled records. Prepare requests.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D8E3F0"/>
                </a:solidFill>
                <a:latin typeface="Calibri"/>
              </a:rPr>
              <a:t>Review approvals. Complete physical handoffs.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4910328"/>
            <a:ext cx="4690872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8E3F0"/>
                </a:solidFill>
                <a:latin typeface="Calibri"/>
              </a:rPr>
              <a:t>Planned user procedures, screen illustrations,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8E3F0"/>
                </a:solidFill>
                <a:latin typeface="Calibri"/>
              </a:rPr>
              <a:t>and expected outcomes for nine request scenarios.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23560" y="1243584"/>
            <a:ext cx="6035040" cy="42519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417320"/>
            <a:ext cx="5852160" cy="390448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57784" y="6300216"/>
            <a:ext cx="82296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C7D5E8"/>
                </a:solidFill>
                <a:latin typeface="Calibri"/>
              </a:rPr>
              <a:t>26 OCTOBER 2026  ·  PROPOSAL  ·  REVISION 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HOW TO USE THIS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Your route through the workspace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" y="1444752"/>
            <a:ext cx="3685032" cy="343814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755648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A80037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615184"/>
            <a:ext cx="32095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40" b="1">
                <a:solidFill>
                  <a:srgbClr val="17243B"/>
                </a:solidFill>
                <a:latin typeface="Calibri"/>
              </a:rPr>
              <a:t>GET ORIENTED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410712"/>
            <a:ext cx="319125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57084"/>
                </a:solidFill>
                <a:latin typeface="Calibri"/>
              </a:rPr>
              <a:t>Sign in and account security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57084"/>
                </a:solidFill>
                <a:latin typeface="Calibri"/>
              </a:rPr>
              <a:t>Overview and navigation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57084"/>
                </a:solidFill>
                <a:latin typeface="Calibri"/>
              </a:rPr>
              <a:t>Find records and inspect details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444752"/>
            <a:ext cx="3685032" cy="343814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9704" y="1755648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A80037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9704" y="2615184"/>
            <a:ext cx="32095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40" b="1">
                <a:solidFill>
                  <a:srgbClr val="17243B"/>
                </a:solidFill>
                <a:latin typeface="Calibri"/>
              </a:rPr>
              <a:t>REQUEST AND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3410712"/>
            <a:ext cx="319125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57084"/>
                </a:solidFill>
                <a:latin typeface="Calibri"/>
              </a:rPr>
              <a:t>All nine request actions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57084"/>
                </a:solidFill>
                <a:latin typeface="Calibri"/>
              </a:rPr>
              <a:t>Save Draft → Submit → decision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57084"/>
                </a:solidFill>
                <a:latin typeface="Calibri"/>
              </a:rPr>
              <a:t>Return, reject, dispatch, and accept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9016" y="1444752"/>
            <a:ext cx="3685032" cy="343814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6" y="1755648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A80037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2615184"/>
            <a:ext cx="320954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40" b="1">
                <a:solidFill>
                  <a:srgbClr val="17243B"/>
                </a:solidFill>
                <a:latin typeface="Calibri"/>
              </a:rPr>
              <a:t>CONTROL AND ADMINISTER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6" y="3410712"/>
            <a:ext cx="319125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57084"/>
                </a:solidFill>
                <a:latin typeface="Calibri"/>
              </a:rPr>
              <a:t>Direct documents and assignments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57084"/>
                </a:solidFill>
                <a:latin typeface="Calibri"/>
              </a:rPr>
              <a:t>Places, users, roles, and workflows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57084"/>
                </a:solidFill>
                <a:latin typeface="Calibri"/>
              </a:rPr>
              <a:t>Audit events and recovery 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166360"/>
            <a:ext cx="10927080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7243B"/>
                </a:solidFill>
                <a:latin typeface="Calibri"/>
              </a:rPr>
              <a:t>These procedures describe intended operation. Letters match the screen markers; short arrows identify controls. Numbered steps describe actions. Available actions will depend on permissions and the active workflow step.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035040"/>
            <a:ext cx="10927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57084"/>
                </a:solidFill>
                <a:latin typeface="Calibri"/>
              </a:rPr>
              <a:t>People, records, dates and transactions in the screen illustrations are sample data.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System access and responsibilities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login.png" descr="login.png"/>
          <p:cNvPicPr>
            <a:picLocks noChangeAspect="1"/>
          </p:cNvPicPr>
          <p:nvPr/>
        </p:nvPicPr>
        <p:blipFill>
          <a:blip r:embed="rId2"/>
          <a:srcRect l="54861" t="14062" r="7083" b="13646"/>
          <a:stretch>
            <a:fillRect/>
          </a:stretch>
        </p:blipFill>
        <p:spPr>
          <a:xfrm>
            <a:off x="3430330" y="1298448"/>
            <a:ext cx="36823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31577" y="4107263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3430409" y="4006679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0409" y="4036854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3970103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4006679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951815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Username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31577" y="4732191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3430409" y="4631607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0409" y="4661782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4710767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4747343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92479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Password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631577" y="5182408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3430409" y="5081824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0409" y="5111999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5451431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5488007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433143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Sign 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1325880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Open the address supplied by your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system administrator and use your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own account.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206654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2061972"/>
            <a:ext cx="2615184" cy="8702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Hardcopy Documents tracks physical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records; Softcopy Documents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provides controlled electronic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records and files.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300075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2996183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Use My Requests for approval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proposals and My Tasks for assigned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approvals or physical handoffs.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373684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3732275"/>
            <a:ext cx="2615184" cy="8702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Document controllers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administrators receive extra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management menus when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permitted.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467105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4666487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Ask the administrator when 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needed menu, action, or record 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unavailable.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400" y="5696712"/>
            <a:ext cx="2889504" cy="649224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15984" y="5779008"/>
            <a:ext cx="2688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Permissions and document access will determine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menus, records, request actions, and file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buttons available to each user.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Sign in and change your password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login.png" descr="login.png"/>
          <p:cNvPicPr>
            <a:picLocks noChangeAspect="1"/>
          </p:cNvPicPr>
          <p:nvPr/>
        </p:nvPicPr>
        <p:blipFill>
          <a:blip r:embed="rId2"/>
          <a:srcRect l="54861" t="14062" r="7083" b="13646"/>
          <a:stretch>
            <a:fillRect/>
          </a:stretch>
        </p:blipFill>
        <p:spPr>
          <a:xfrm>
            <a:off x="3430330" y="1298448"/>
            <a:ext cx="36823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31577" y="4107263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3430409" y="4006679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0409" y="4036854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3970103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4006679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951815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Username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31577" y="4732191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3430409" y="4631607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0409" y="4661782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4710767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4747343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92479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Password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631577" y="5182408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3430409" y="5081824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0409" y="5111999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5451431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5488007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433143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Sign 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Enter Username and Password,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then select Sign In.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1880362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For a temporary password,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complete Current or temporary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password, New password,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 new password.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285216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2847594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more than 8 characters, up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to 72 bytes; select Set permanent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password.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361302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3608451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Later, open your name → Change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Password, complete the fields, then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Update Password → Confirm.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4373880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4369308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your name → Sign Out →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 to finish your session.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400" y="5541264"/>
            <a:ext cx="2889504" cy="804672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15984" y="5623560"/>
            <a:ext cx="268833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If Invalid username or password appears, recheck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credentials. After too many failed attempts,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wait before trying again or contact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administrator.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ACCOUNT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Set your permanent password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change_password.png" descr="change_password.png"/>
          <p:cNvPicPr>
            <a:picLocks noChangeAspect="1"/>
          </p:cNvPicPr>
          <p:nvPr/>
        </p:nvPicPr>
        <p:blipFill>
          <a:blip r:embed="rId2"/>
          <a:srcRect l="31250" t="18385" r="31250" b="18387"/>
          <a:stretch>
            <a:fillRect/>
          </a:stretch>
        </p:blipFill>
        <p:spPr>
          <a:xfrm>
            <a:off x="3197115" y="1298448"/>
            <a:ext cx="4148801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14832" y="3026995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3213664" y="2926411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13664" y="2956586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2889835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926411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871547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Enter temporary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password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4832" y="3693852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3213664" y="3593268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13664" y="3623443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630499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667075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612211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Enter permanent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password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14832" y="4763345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3213664" y="4662761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13664" y="4692936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4626185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4662761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607897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Confirm permanent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password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6977134" y="5500910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7105150" y="5400326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05150" y="5430501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29" name="Oval 28"/>
          <p:cNvSpPr/>
          <p:nvPr/>
        </p:nvSpPr>
        <p:spPr>
          <a:xfrm>
            <a:off x="484632" y="5366849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" y="5403425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5348561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Set permanent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password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1325880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For a new or reset account, enter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Current or temporary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password.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209130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2086737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Enter a New password with more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than 8 characters, up to 72 bytes.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264579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2641219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Repeat it in Confirm new password,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then select Set permanent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password.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system will require this step before allowing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access to the workspace.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Overview and main navigation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overview.png" descr="overview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240279" y="1609343"/>
            <a:ext cx="6062472" cy="40416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3301212" y="2472930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3429228" y="2372346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228" y="2402521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233577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372346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317482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Open physical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documents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3301212" y="3037603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3429228" y="2937019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228" y="2967194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076434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113010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058146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Start and track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requests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796006" y="3328096"/>
            <a:ext cx="0" cy="128016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2695422" y="3456112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95422" y="3486288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3817098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3853674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798810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Review assigned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1325880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Overview for your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dashboard. On narrow screens, use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Toggle navigation to show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sidebar.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229768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2293112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Accessible documents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Created by you for counts within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your document access.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305854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3053969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Pending approvals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Outstanding handoffs for work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assigned to you or your roles.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381939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3814826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Read Your document register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My request status to see document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request distributions.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458025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4575683"/>
            <a:ext cx="2615184" cy="1109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Use the left navigation for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documents, My Requests,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Tasks, and permitted management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pages; use the bell for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Notifications.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Dashboard numbers will reflect the signed-in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user's authorized records and assigned work.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Find and inspect document records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hardcopy.png" descr="hardcopy.png"/>
          <p:cNvPicPr>
            <a:picLocks noChangeAspect="1"/>
          </p:cNvPicPr>
          <p:nvPr/>
        </p:nvPicPr>
        <p:blipFill>
          <a:blip r:embed="rId2"/>
          <a:srcRect l="19306" t="8646" r="833" b="3333"/>
          <a:stretch>
            <a:fillRect/>
          </a:stretch>
        </p:blipFill>
        <p:spPr>
          <a:xfrm>
            <a:off x="2240280" y="1402868"/>
            <a:ext cx="6062472" cy="44545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17860" y="2346505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16692" y="2245921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16692" y="2276096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2209345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245921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191057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Search by document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details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8086611" y="2346505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214627" y="2245921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4627" y="2276096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2950009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2986585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2931721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Authorized direct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entry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09857" y="3192615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437873" y="3092031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37873" y="3122206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3690673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3727249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672385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Open document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details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1325880"/>
            <a:ext cx="2615184" cy="64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Open Hardcopy Documents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Softcopy Documents and choose Table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or Folder.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204177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2037207"/>
            <a:ext cx="2615184" cy="64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Use Search records, status, owner,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date filters. Select Clear to remove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filters.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275310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2748534"/>
            <a:ext cx="2615184" cy="837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Expand hardcopy Area → Specific →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optional Asset → Location, or softcopy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category folders. Use breadcrumbs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and All Documents to change scope.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365429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3649726"/>
            <a:ext cx="2615184" cy="837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Open a document title or View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for full details, related requests,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approval history, and applicable file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transfer history.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4555490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4550918"/>
            <a:ext cx="2615184" cy="64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Use Rows per page, page arrows,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Recent / A–Z / Z–A ordering to browse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long lists.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400" y="5541264"/>
            <a:ext cx="2889504" cy="804672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15984" y="5623560"/>
            <a:ext cx="268833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proposed hardcopy register will show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Document Title, Location, Holder, and Status.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softcopy register will show Document Title,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Document Number, Category, and Status.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Open, download and print controlled files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softcopy_files.png" descr="softcopy_files.png"/>
          <p:cNvPicPr>
            <a:picLocks noChangeAspect="1"/>
          </p:cNvPicPr>
          <p:nvPr/>
        </p:nvPicPr>
        <p:blipFill>
          <a:blip r:embed="rId2"/>
          <a:srcRect l="19306" t="8646" r="833" b="3333"/>
          <a:stretch>
            <a:fillRect/>
          </a:stretch>
        </p:blipFill>
        <p:spPr>
          <a:xfrm>
            <a:off x="2240280" y="1402868"/>
            <a:ext cx="6062472" cy="44545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89360" y="3205794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5888192" y="310521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88192" y="3135386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3068634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3105210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050346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Open File History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7797" y="2988159"/>
            <a:ext cx="0" cy="128016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6847213" y="2786991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47213" y="2817167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809298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845874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791010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Open print preview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655896" y="3205794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783912" y="310521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83912" y="3135386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4549962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458653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531674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Download approved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Softcopy Documents and find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permitted active record.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File History to inspect its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available revision files.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2434843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Download for an authorized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copy of the current approved file.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29938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2989325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Print to open the controlled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print preview.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Available file actions depend on your permissions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and document access.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Inspect Document File History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file_history.png" descr="file_history.png"/>
          <p:cNvPicPr>
            <a:picLocks noChangeAspect="1"/>
          </p:cNvPicPr>
          <p:nvPr/>
        </p:nvPicPr>
        <p:blipFill>
          <a:blip r:embed="rId2"/>
          <a:srcRect l="9861" t="28958" r="9861" b="29792"/>
          <a:stretch>
            <a:fillRect/>
          </a:stretch>
        </p:blipFill>
        <p:spPr>
          <a:xfrm>
            <a:off x="2240280" y="2591786"/>
            <a:ext cx="6062472" cy="20767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31454" y="3829453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430286" y="3728869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30286" y="3759044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3692293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3728869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674005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Identify current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revision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31824" y="3829453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6730656" y="3728869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0656" y="3759044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4432957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4469533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414669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Download revision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file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998579" y="3829453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126595" y="3728869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6595" y="3759044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5173621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5210197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155333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Print revision 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File History on the intended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softcopy record.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Read the revision details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identify the current file.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2434843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Use available Download or Print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actions for files within your access.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29938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2989325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Close to return to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document register.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Historical revision metadata can remain after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retired file bytes are cleaned up.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Use the controlled print preview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print_file.png" descr="print_file.png"/>
          <p:cNvPicPr>
            <a:picLocks noChangeAspect="1"/>
          </p:cNvPicPr>
          <p:nvPr/>
        </p:nvPicPr>
        <p:blipFill>
          <a:blip r:embed="rId2"/>
          <a:srcRect b="2083"/>
          <a:stretch>
            <a:fillRect/>
          </a:stretch>
        </p:blipFill>
        <p:spPr>
          <a:xfrm>
            <a:off x="2240279" y="1651444"/>
            <a:ext cx="6062472" cy="39574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237578" y="1847211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036410" y="1746627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36410" y="1776803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1710051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1746627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691763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Print this controlled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file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8184870" y="1847211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312886" y="1746627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2886" y="1776803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2450715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2487291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2432427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Download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approved file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335396" y="3899611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2134228" y="3799027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4228" y="3829202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3762451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3799027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744163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Review the file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preview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Print from the authorized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document file action.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Wait for the PDF, image or text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preview to prepare.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2434843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Print when ready, then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complete your browser's print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dialog.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3200272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319570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Use Download when you need 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permitted local copy.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Office files use the downloaded file and an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installed Office application for printing.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Save, submit, and track requests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draft_hardcopy_create.png" descr="draft_hardcopy_create.png"/>
          <p:cNvPicPr>
            <a:picLocks noChangeAspect="1"/>
          </p:cNvPicPr>
          <p:nvPr/>
        </p:nvPicPr>
        <p:blipFill>
          <a:blip r:embed="rId2"/>
          <a:srcRect l="19306" t="8542" r="833" b="9167"/>
          <a:stretch>
            <a:fillRect/>
          </a:stretch>
        </p:blipFill>
        <p:spPr>
          <a:xfrm>
            <a:off x="2240280" y="1547840"/>
            <a:ext cx="6062472" cy="41646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679875" y="3232153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478707" y="3131569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8707" y="3161744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3094993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3131569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076705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View draft details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54955" y="3014518"/>
            <a:ext cx="0" cy="128016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254371" y="281335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54371" y="2843525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835657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872233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817369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Edit before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submitting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964456" y="3232153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092472" y="3131569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72" y="3161744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4576321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4612897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558033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Submit for approval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1325880"/>
            <a:ext cx="2615184" cy="64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Choose the appropriate My Requests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tab and select New Request; complete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the action-specific fields.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204177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2037207"/>
            <a:ext cx="2615184" cy="837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Save Draft → Confirm records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proposal. Open View to inspect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metadata, any attachment, and its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approval timeline.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294297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2938399"/>
            <a:ext cx="2615184" cy="64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Select Submit → Confirm when ready.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Submitted means the published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approval workflow has started.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365429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3649726"/>
            <a:ext cx="2615184" cy="64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For a request Returned to you, read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the remarks, Edit, save, and Submit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again.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436562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4361053"/>
            <a:ext cx="2615184" cy="64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Cancel an unwanted Draft. Delete 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permanent and is offered only for your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cancelled, never-submitted draft.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400" y="5541264"/>
            <a:ext cx="2889504" cy="804672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15984" y="5623560"/>
            <a:ext cx="268833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Request filters will include Draft, Submitted,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Completed, Approved, Rejected, Returned,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Cancelled. An Approved transfer will still require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physical handoff steps.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Submit a checked draft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submit_confirmation.png" descr="submit_confirmation.png"/>
          <p:cNvPicPr>
            <a:picLocks noChangeAspect="1"/>
          </p:cNvPicPr>
          <p:nvPr/>
        </p:nvPicPr>
        <p:blipFill>
          <a:blip r:embed="rId2"/>
          <a:srcRect l="32847" t="31354" r="32847" b="30104"/>
          <a:stretch>
            <a:fillRect/>
          </a:stretch>
        </p:blipFill>
        <p:spPr>
          <a:xfrm>
            <a:off x="2240280" y="1359809"/>
            <a:ext cx="6062472" cy="45407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99507" y="3874355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598339" y="3773771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98339" y="3803946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3737195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3773771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718907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Review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submission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615508" y="4939267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743524" y="4838683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3524" y="4868858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4802107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4838683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783819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Confirm to start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approval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Save Draft records your proposal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without starting approval.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Back in the request list, select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Submit for the intended draft.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434843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Read the request confirmation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Confirm to start the approval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workflow.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3200272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195700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the request becomes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Submitted, then inspect its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Process Timeline.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Submit uses the shared Confirm dialog; it does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not ask for an approval remark.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PLANNED REQUEST SCENARIOS ·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01 · Create Softcopy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flow_softcopy_create.png" descr="flow_softcopy_create.png"/>
          <p:cNvPicPr>
            <a:picLocks noChangeAspect="1"/>
          </p:cNvPicPr>
          <p:nvPr/>
        </p:nvPicPr>
        <p:blipFill>
          <a:blip r:embed="rId2"/>
          <a:srcRect l="20347" t="13333" r="20347" b="13333"/>
          <a:stretch>
            <a:fillRect/>
          </a:stretch>
        </p:blipFill>
        <p:spPr>
          <a:xfrm>
            <a:off x="2442980" y="1298448"/>
            <a:ext cx="56570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59423" y="2371569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458255" y="2270985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8255" y="2301160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2234409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270985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216121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Create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Softcopy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755592" y="2371569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883608" y="2270985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3608" y="2301160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2975073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011649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2956785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State the reason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659423" y="2920032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2458255" y="2819448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8255" y="2849623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3715737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3752313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697449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Enter the sample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87F87"/>
                </a:solidFill>
                <a:latin typeface="Calibri"/>
              </a:rPr>
              <a:t>EXAMPLE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1316736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Subject / Reason: Create Softcopy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documentation sample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1746504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Proposed Document Title: Sample controlled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procedure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2176272"/>
            <a:ext cx="2889504" cy="224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 Number: DEMO-REQUEST-001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2528316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2816352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28117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My Requests → Softcopy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New Request.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337083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33662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Create Softcopy and enter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Subject / Reason.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39253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3920743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Enter the proposed title, Document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Number, optional Series Number,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Category.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468617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4681601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 the Document File, add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Remarks if needed, and select Save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Draft.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Save Draft first. Submit only after checking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document, fields and attachment.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PLANNED REQUEST SCENARIOS ·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01 · Create Softcopy — expected outcome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result_softcopy_create.png" descr="result_softcopy_create.png"/>
          <p:cNvPicPr>
            <a:picLocks noChangeAspect="1"/>
          </p:cNvPicPr>
          <p:nvPr/>
        </p:nvPicPr>
        <p:blipFill>
          <a:blip r:embed="rId2"/>
          <a:srcRect l="9861" t="7187" r="9861" b="8021"/>
          <a:stretch>
            <a:fillRect/>
          </a:stretch>
        </p:blipFill>
        <p:spPr>
          <a:xfrm>
            <a:off x="2240280" y="1495716"/>
            <a:ext cx="6062472" cy="42689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846493" y="1812999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974509" y="1712415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74509" y="1742590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1675839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1712415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657551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Completed request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76867" y="4296200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975699" y="4195616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5699" y="4225792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415904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4195616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40752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Open approval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timeline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EXPECTED: COMPLETED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80593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801368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saved draft and verify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selected document, fields,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attachment where required.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5667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562225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Submit, read the shared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confirmation, and select Confirm.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enters its published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route.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353402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529457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assigned approver opens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Tasks, reviews the proposal,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selects Approve → Confirm at each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required step.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450126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4496689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After final approval, the new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controlled softcopy will appear 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Softcopy Documents. Expected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status: Completed.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illustration shows the expected state for this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sample scenario.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PLANNED REQUEST SCENARIOS ·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02 · Revise Softcopy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flow_softcopy_revise.png" descr="flow_softcopy_revise.png"/>
          <p:cNvPicPr>
            <a:picLocks noChangeAspect="1"/>
          </p:cNvPicPr>
          <p:nvPr/>
        </p:nvPicPr>
        <p:blipFill>
          <a:blip r:embed="rId2"/>
          <a:srcRect l="20347" t="7812" r="20347" b="7917"/>
          <a:stretch>
            <a:fillRect/>
          </a:stretch>
        </p:blipFill>
        <p:spPr>
          <a:xfrm>
            <a:off x="2810095" y="1298448"/>
            <a:ext cx="492284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81831" y="2232649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780663" y="2132065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0663" y="2162240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2095489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132065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077201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Revise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Softcopy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433184" y="2232649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561200" y="2132065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61200" y="2162240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2836153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2872729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2817865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State the reason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81831" y="2709927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2780663" y="2609343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80663" y="2639518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3576817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3613393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558529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Select existing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document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433184" y="2709927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7561200" y="2609343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61200" y="2639518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29" name="Oval 28"/>
          <p:cNvSpPr/>
          <p:nvPr/>
        </p:nvSpPr>
        <p:spPr>
          <a:xfrm>
            <a:off x="484632" y="4317481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" y="4354057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299193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Enter the sample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title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87F87"/>
                </a:solidFill>
                <a:latin typeface="Calibri"/>
              </a:rPr>
              <a:t>EXAMPLE 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1316736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Subject / Reason: Revise Softcopy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documentation sample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1746504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Proposed Document Title: Sample controlled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procedure - updated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2176272"/>
            <a:ext cx="2889504" cy="224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New Revision Level: 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2528316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2816352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28117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My Requests → Softcopy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New Request.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400" y="337083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9720" y="33662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Revise Softcopy and select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Existing Softcopy Document.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400" y="39253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20" y="3920743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the proposed title; enter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New Revision Level and Number of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Pages.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15400" y="468617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4681601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an optional Effective Date,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 the revised file, then Save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Draft.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Save Draft first. Submit only after checking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document, fields and attachment.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PLANNED REQUEST SCENARIOS ·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02 · Revise Softcopy — expected outcome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result_softcopy_revise.png" descr="result_softcopy_revise.png"/>
          <p:cNvPicPr>
            <a:picLocks noChangeAspect="1"/>
          </p:cNvPicPr>
          <p:nvPr/>
        </p:nvPicPr>
        <p:blipFill>
          <a:blip r:embed="rId2"/>
          <a:srcRect l="9861" t="11250" r="9861" b="12083"/>
          <a:stretch>
            <a:fillRect/>
          </a:stretch>
        </p:blipFill>
        <p:spPr>
          <a:xfrm>
            <a:off x="2240280" y="1700246"/>
            <a:ext cx="6062472" cy="38598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846493" y="2017529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974509" y="1916945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74509" y="1947120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1880369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1916945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862081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Completed request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76867" y="4091671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975699" y="3991087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5699" y="4021262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954511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991087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936223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Open approval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timeline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EXPECTED: COMPLETED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80593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801368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saved draft and verify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selected document, fields,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attachment where required.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5667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562225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Submit, read the shared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confirmation, and select Confirm.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enters its published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route.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353402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529457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assigned approver opens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Tasks, reviews the proposal,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selects Approve → Confirm at each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required step.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450126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4496689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approved revision will become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current controlled file; check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revision and File History.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Expected status: Completed.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illustration shows the expected state for this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sample scenario.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PLANNED REQUEST SCENARIOS ·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03 · Cancel Softcopy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flow_softcopy_cancel.png" descr="flow_softcopy_cancel.png"/>
          <p:cNvPicPr>
            <a:picLocks noChangeAspect="1"/>
          </p:cNvPicPr>
          <p:nvPr/>
        </p:nvPicPr>
        <p:blipFill>
          <a:blip r:embed="rId2"/>
          <a:srcRect l="20347" t="23229" r="20347" b="23125"/>
          <a:stretch>
            <a:fillRect/>
          </a:stretch>
        </p:blipFill>
        <p:spPr>
          <a:xfrm>
            <a:off x="2240280" y="1802197"/>
            <a:ext cx="6062472" cy="36559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1407" y="2947563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280239" y="2846979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0239" y="2877154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2810403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846979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792115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Cancel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Softcopy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933608" y="2947563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061624" y="2846979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1624" y="2877154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551067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587643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532779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State the reason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481407" y="3535330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2280239" y="3434746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0239" y="3464922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4291731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4328307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273443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Select existing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document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87F87"/>
                </a:solidFill>
                <a:latin typeface="Calibri"/>
              </a:rPr>
              <a:t>EXAMPLE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1316736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Subject / Reason: Cancel Softcopy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documentation sample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1746504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Existing Softcopy Document: Sample controlled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procedure - updated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2267712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255574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2551176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My Requests → Softcopy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New Request.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311022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20" y="3105658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Cancel Softcopy and select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Existing Softcopy Document.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366471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20" y="3660139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Enter Subject / Reason and any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Remarks explaining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cancellation.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442556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20" y="4420997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Save Draft, check the selected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record, and submit the proposal.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Save Draft first. Submit only after checking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document, fields and attachment.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PLANNED REQUEST SCENARIOS ·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03 · Cancel Softcopy — expected outcome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result_softcopy_cancel.png" descr="result_softcopy_cancel.png"/>
          <p:cNvPicPr>
            <a:picLocks noChangeAspect="1"/>
          </p:cNvPicPr>
          <p:nvPr/>
        </p:nvPicPr>
        <p:blipFill>
          <a:blip r:embed="rId2"/>
          <a:srcRect l="9861" t="12396" r="9861" b="13229"/>
          <a:stretch>
            <a:fillRect/>
          </a:stretch>
        </p:blipFill>
        <p:spPr>
          <a:xfrm>
            <a:off x="2240280" y="1757934"/>
            <a:ext cx="6062472" cy="37444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846493" y="2075217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974509" y="1974633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74509" y="2004808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1938057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1974633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19769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Completed request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76867" y="4039227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975699" y="3938643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5699" y="3968818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902067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938643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883779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Open approval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timeline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EXPECTED: COMPLETED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80593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801368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saved draft and verify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selected document, fields,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attachment where required.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5667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562225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Submit, read the shared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confirmation, and select Confirm.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enters its published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route.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353402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529457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assigned approver opens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Tasks, reviews the proposal,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selects Approve → Confirm at each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required step.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450126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4496689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Final approval will cancel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controlled softcopy; use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Cancelled status filter to inspect it.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Expected status: Completed.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illustration shows the expected state for this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sample scenario.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PLANNED REQUEST SCENARIOS ·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04 · Create Hardcopy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flow_hardcopy_create.png" descr="flow_hardcopy_create.png"/>
          <p:cNvPicPr>
            <a:picLocks noChangeAspect="1"/>
          </p:cNvPicPr>
          <p:nvPr/>
        </p:nvPicPr>
        <p:blipFill>
          <a:blip r:embed="rId2"/>
          <a:srcRect l="20347" t="11250" r="20347" b="11250"/>
          <a:stretch>
            <a:fillRect/>
          </a:stretch>
        </p:blipFill>
        <p:spPr>
          <a:xfrm>
            <a:off x="2595052" y="1298448"/>
            <a:ext cx="5352927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92975" y="2313286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591807" y="2212702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91807" y="2242878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2176126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212702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157838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Create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Hardcopy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622040" y="2313286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750056" y="2212702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0056" y="2242878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291679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2953366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2898502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State the reason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92975" y="2832262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2591807" y="2731678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91807" y="2761854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3657454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3694030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639166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Enter the sample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87F87"/>
                </a:solidFill>
                <a:latin typeface="Calibri"/>
              </a:rPr>
              <a:t>EXAMPLE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1316736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Subject / Reason: Create Hardcopy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documentation sample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1746504"/>
            <a:ext cx="2889504" cy="224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 Title: Sample signed register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2098548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238658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238201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My Requests → Hardcopy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select New Request.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294106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20" y="2936494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Create Hardcopy and enter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Subject / Reason and Document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Title.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370192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20" y="3697351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Area, Specific, optional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Asset, Location, and check Current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Holder.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4462780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20" y="4458208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Optionally enable retention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monitoring, then enter both Start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End dates (End on/after Start).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Add notes and Save Draft.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Save Draft first. Submit only after checking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document, fields and attachment.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PLANNED REQUEST SCENARIOS ·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04 · Create Hardcopy — expected outcome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result_hardcopy_create.png" descr="result_hardcopy_create.png"/>
          <p:cNvPicPr>
            <a:picLocks noChangeAspect="1"/>
          </p:cNvPicPr>
          <p:nvPr/>
        </p:nvPicPr>
        <p:blipFill>
          <a:blip r:embed="rId2"/>
          <a:srcRect l="9861" r="9861"/>
          <a:stretch>
            <a:fillRect/>
          </a:stretch>
        </p:blipFill>
        <p:spPr>
          <a:xfrm>
            <a:off x="2463736" y="1298448"/>
            <a:ext cx="5615558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656671" y="1553479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784687" y="1452895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84687" y="1483071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1636776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1673351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618488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Completed request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12612" y="3669029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411444" y="3568445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11444" y="3598621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531869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568445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513581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Open approval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timeline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EXPECTED: COMPLETED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80593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801368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saved draft and verify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selected document, fields,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attachment where required.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5667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562225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Submit, read the shared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confirmation, and select Confirm.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enters its published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route.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353402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529457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assigned approver opens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Tasks, reviews the proposal,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selects Approve → Confirm at each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required step.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450126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4496689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new hardcopy will appear with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its approved storage hierarchy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holder. Expected status: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Completed.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illustration shows the expected state for this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sample scenario.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PLANNED REQUEST SCENARIOS ·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05 · Update Hardcopy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flow_hardcopy_update.png" descr="flow_hardcopy_update.png"/>
          <p:cNvPicPr>
            <a:picLocks noChangeAspect="1"/>
          </p:cNvPicPr>
          <p:nvPr/>
        </p:nvPicPr>
        <p:blipFill>
          <a:blip r:embed="rId2"/>
          <a:srcRect l="20347" t="6979" r="20347" b="6875"/>
          <a:stretch>
            <a:fillRect/>
          </a:stretch>
        </p:blipFill>
        <p:spPr>
          <a:xfrm>
            <a:off x="2863669" y="1298448"/>
            <a:ext cx="481569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28880" y="2209143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827712" y="2108559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27712" y="2138735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2071983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108559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053695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Update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Hardcopy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386135" y="2209143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514151" y="2108559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4151" y="2138735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2812647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2849223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2794359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State the reason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028880" y="2676034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2827712" y="257545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7712" y="2605625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3553311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3589887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535023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Select existing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document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028880" y="3142924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2827712" y="304234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27712" y="3072515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29" name="Oval 28"/>
          <p:cNvSpPr/>
          <p:nvPr/>
        </p:nvSpPr>
        <p:spPr>
          <a:xfrm>
            <a:off x="484632" y="4293975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" y="4330551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275687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Enter the sample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title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87F87"/>
                </a:solidFill>
                <a:latin typeface="Calibri"/>
              </a:rPr>
              <a:t>EXAMPLE 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1316736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Subject / Reason: Update Hardcopy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documentation sample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1746504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 Title: Sample signed register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updated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2267712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255574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20" y="2551176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My Requests → Hardcopy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select New Request.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311022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3105658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Update Hardcopy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the Existing Hardcopy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Document.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15400" y="387108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3866514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Document Title, Area,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Specific, optional Asset, Location,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Current Holder.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5400" y="463194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9720" y="4627372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Update the intended metadata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retention information, then Save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Draft.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Save Draft first. Submit only after checking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document, fields and attachment.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PLANNED REQUEST SCENARIOS ·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05 · Update Hardcopy — expected outcome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result_hardcopy_update.png" descr="result_hardcopy_update.png"/>
          <p:cNvPicPr>
            <a:picLocks noChangeAspect="1"/>
          </p:cNvPicPr>
          <p:nvPr/>
        </p:nvPicPr>
        <p:blipFill>
          <a:blip r:embed="rId2"/>
          <a:srcRect l="9861" r="9861"/>
          <a:stretch>
            <a:fillRect/>
          </a:stretch>
        </p:blipFill>
        <p:spPr>
          <a:xfrm>
            <a:off x="2463736" y="1298448"/>
            <a:ext cx="5615558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656671" y="1553479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784687" y="1452895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84687" y="1483071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1636776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1673351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618488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Completed request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12612" y="3775900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411444" y="3675316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11444" y="3705491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63874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675316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620452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Open approval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timeline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EXPECTED: COMPLETED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80593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801368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saved draft and verify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selected document, fields,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attachment where required.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5667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562225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Submit, read the shared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confirmation, and select Confirm.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enters its published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route.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353402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529457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assigned approver opens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Tasks, reviews the proposal,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selects Approve → Confirm at each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required step.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450126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4496689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Final approval will apply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hardcopy metadata; inspect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changed storage or retention fields.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Expected status: Completed.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illustration shows the expected state for this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sample scenario.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PLANNED REQUEST SCENARIOS ·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06 · Grant Access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flow_access.png" descr="flow_access.png"/>
          <p:cNvPicPr>
            <a:picLocks noChangeAspect="1"/>
          </p:cNvPicPr>
          <p:nvPr/>
        </p:nvPicPr>
        <p:blipFill>
          <a:blip r:embed="rId2"/>
          <a:srcRect l="20347" t="18854" r="20347" b="18854"/>
          <a:stretch>
            <a:fillRect/>
          </a:stretch>
        </p:blipFill>
        <p:spPr>
          <a:xfrm>
            <a:off x="2240280" y="1507592"/>
            <a:ext cx="6062472" cy="4245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1407" y="2657284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280239" y="255670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0239" y="2586875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2520124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556700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501836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Grant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Access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933608" y="2657284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061624" y="255670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1624" y="2586875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260788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297364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242500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State the reason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933608" y="3245051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061624" y="3144467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61624" y="3174643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4001452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403802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983164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Select existing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document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87F87"/>
                </a:solidFill>
                <a:latin typeface="Calibri"/>
              </a:rPr>
              <a:t>EXAMPLE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1316736"/>
            <a:ext cx="2889504" cy="224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Access Expires At: 2027-12-31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1577339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Selected document: Example softcopy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documentation 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2007107"/>
            <a:ext cx="2889504" cy="224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Subject: Grant Access - documentation sample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2359152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264718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2642616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My Requests → Document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Access Grants and select New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Request.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340804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3403473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Enter Subject in the Document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Access Grant form.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396252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3957955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Document Type, select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document, and check your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read-only Recipient field.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472338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4718812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Set Access Expires At after today,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allowing time for approval; add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optional Remarks, then Save Draft.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Save Draft first. Submit only after checking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document, fields and attachment.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PLANNED REQUEST SCENARIOS ·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06 · Grant Access — expected outcome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result_access.png" descr="result_access.png"/>
          <p:cNvPicPr>
            <a:picLocks noChangeAspect="1"/>
          </p:cNvPicPr>
          <p:nvPr/>
        </p:nvPicPr>
        <p:blipFill>
          <a:blip r:embed="rId2"/>
          <a:srcRect l="9861" r="9861"/>
          <a:stretch>
            <a:fillRect/>
          </a:stretch>
        </p:blipFill>
        <p:spPr>
          <a:xfrm>
            <a:off x="2463736" y="1298448"/>
            <a:ext cx="5615558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656671" y="1553479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784687" y="1452895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84687" y="1483071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1636776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1673351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618488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Completed request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12612" y="3775900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411444" y="3675316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11444" y="3705491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63874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675316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620452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Open approval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timeline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EXPECTED: COMPLETED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80593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801368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saved draft and verify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selected document, fields,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attachment where required.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5667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562225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Submit, read the shared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confirmation, and select Confirm.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enters its published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route.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353402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529457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assigned approver opens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Tasks, reviews the proposal,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selects Approve → Confirm at each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required step.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450126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4496689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approved grant will give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signed-in recipient access to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selected document until expiry.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Expected status: Completed.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illustration shows the expected state for this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sample scenario.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PLANNED REQUEST SCENARIOS ·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07 · Assign Document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flow_assignment.png" descr="flow_assignment.png"/>
          <p:cNvPicPr>
            <a:picLocks noChangeAspect="1"/>
          </p:cNvPicPr>
          <p:nvPr/>
        </p:nvPicPr>
        <p:blipFill>
          <a:blip r:embed="rId2"/>
          <a:srcRect l="20347" t="18854" r="20347" b="18854"/>
          <a:stretch>
            <a:fillRect/>
          </a:stretch>
        </p:blipFill>
        <p:spPr>
          <a:xfrm>
            <a:off x="2240280" y="1507592"/>
            <a:ext cx="6062472" cy="4245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1407" y="2657284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280239" y="255670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0239" y="2586875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2520124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556700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501836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Assign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Document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933608" y="2657284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061624" y="255670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1624" y="2586875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260788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297364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242500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State the reason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933608" y="3245051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061624" y="3144467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61624" y="3174643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4001452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403802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983164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Select existing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document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87F87"/>
                </a:solidFill>
                <a:latin typeface="Calibri"/>
              </a:rPr>
              <a:t>EXAMPLE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1316736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Selected document: Example softcopy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documentation only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1746504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Subject: Assign Document - documentation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sample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2267712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255574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2551176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My Requests → Document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Assignments and select New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Request.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331660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20" y="3312033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Document Assignments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enter Subject.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387108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20" y="3866514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Document Type and select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document to be assigned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you.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463194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20" y="4627372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your read-only Recipient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Assigned User, add optional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Remarks, then Save Draft.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Save Draft first. Submit only after checking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document, fields and attachment.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PLANNED REQUEST SCENARIOS ·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07 · Assign Document — expected outcome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result_assignment.png" descr="result_assignment.png"/>
          <p:cNvPicPr>
            <a:picLocks noChangeAspect="1"/>
          </p:cNvPicPr>
          <p:nvPr/>
        </p:nvPicPr>
        <p:blipFill>
          <a:blip r:embed="rId2"/>
          <a:srcRect l="9861" r="9861"/>
          <a:stretch>
            <a:fillRect/>
          </a:stretch>
        </p:blipFill>
        <p:spPr>
          <a:xfrm>
            <a:off x="2463736" y="1298448"/>
            <a:ext cx="5615558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656671" y="1553479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784687" y="1452895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84687" y="1483071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1636776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1673351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618488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Completed request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12612" y="3396996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411444" y="3296412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11444" y="3326587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259836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296412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241548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Open approval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timeline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EXPECTED: COMPLETED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80593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801368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saved draft and verify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selected document, fields,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attachment where required.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5667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562225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Submit, read the shared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confirmation, and select Confirm.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enters its published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route.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353402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529457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assigned approver opens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Tasks, reviews the proposal,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selects Approve → Confirm at each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required step.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450126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4496689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approved assignment will apply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to the selected document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signed-in recipient. Expected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status: Completed.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illustration shows the expected state for this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sample scenario.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PLANNED REQUEST SCENARIOS ·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08 · Transfer Hardcopy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flow_transfer.png" descr="flow_transfer.png"/>
          <p:cNvPicPr>
            <a:picLocks noChangeAspect="1"/>
          </p:cNvPicPr>
          <p:nvPr/>
        </p:nvPicPr>
        <p:blipFill>
          <a:blip r:embed="rId2"/>
          <a:srcRect l="20347" t="3542" r="20347" b="3646"/>
          <a:stretch>
            <a:fillRect/>
          </a:stretch>
        </p:blipFill>
        <p:spPr>
          <a:xfrm>
            <a:off x="3036623" y="1298448"/>
            <a:ext cx="4469784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80772" y="2147409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979604" y="2046825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9604" y="2077000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2010249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046825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91961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Select hardcopy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document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80772" y="4271325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979604" y="4170741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9604" y="4200916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4134165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4170741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15877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Check original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holder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80772" y="5098287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2979604" y="4997703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9604" y="5027879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4961127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4997703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942839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destination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area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234243" y="5098287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7362259" y="4997703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62259" y="5027879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29" name="Oval 28"/>
          <p:cNvSpPr/>
          <p:nvPr/>
        </p:nvSpPr>
        <p:spPr>
          <a:xfrm>
            <a:off x="484632" y="5701792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" y="573836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5683504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destination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specific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87F87"/>
                </a:solidFill>
                <a:latin typeface="Calibri"/>
              </a:rPr>
              <a:t>EXAMPLE 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1316736"/>
            <a:ext cx="2889504" cy="224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Location: Sample receiving location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1577339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Hardcopy Document: Sample signed register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updated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2007107"/>
            <a:ext cx="2889504" cy="224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Receiving User: Receiver Demo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2267712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Request Subject: Transfer Hardcopy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documentation sample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2788920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307695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3072384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My Requests → Hardcopy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Transfer and select New Request.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15400" y="363143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3626866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the Hardcopy Document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Original Places and Holder.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5400" y="418591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9720" y="4181348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the destination hierarchy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Receiving User; destination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must differ from the original.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15400" y="494677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4942205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Enter Request Subject and optional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Remarks, then Save Draft.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Save Draft first. Submit only after checking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document, fields and attachment.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PLANNED REQUEST SCENARIOS ·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08 · Transfer destination and recipient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flow_transfer_details.png" descr="flow_transfer_details.png"/>
          <p:cNvPicPr>
            <a:picLocks noChangeAspect="1"/>
          </p:cNvPicPr>
          <p:nvPr/>
        </p:nvPicPr>
        <p:blipFill>
          <a:blip r:embed="rId2"/>
          <a:srcRect l="20833" t="4313" r="20833" b="4313"/>
          <a:stretch>
            <a:fillRect/>
          </a:stretch>
        </p:blipFill>
        <p:spPr>
          <a:xfrm>
            <a:off x="3038646" y="1298448"/>
            <a:ext cx="4465738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265149" y="4032964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393165" y="393238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93165" y="3962556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2770631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807207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752343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Destination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Location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49866" y="4473142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948698" y="4372558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8698" y="4402733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511295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547871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493007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Receiving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User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265149" y="4473142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393165" y="4372558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93165" y="4402733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4251959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4288535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233671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Enter Request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Subject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149866" y="5156294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2948698" y="505571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48698" y="5085885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29" name="Oval 28"/>
          <p:cNvSpPr/>
          <p:nvPr/>
        </p:nvSpPr>
        <p:spPr>
          <a:xfrm>
            <a:off x="484632" y="4992623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" y="5029199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974336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Add optional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Remarks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7249199" y="5642906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7377215" y="5542322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77215" y="5572497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E</a:t>
            </a:r>
          </a:p>
        </p:txBody>
      </p:sp>
      <p:sp>
        <p:nvSpPr>
          <p:cNvPr id="35" name="Oval 34"/>
          <p:cNvSpPr/>
          <p:nvPr/>
        </p:nvSpPr>
        <p:spPr>
          <a:xfrm>
            <a:off x="484632" y="5733288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2" y="5769864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5715000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Save Draft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9720" y="1325880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Scroll down within the New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Request form to the destination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fields.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400" y="209130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20" y="2086737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the destination hierarchy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Receiving User; the destination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must differ from the original.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15400" y="285216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2847594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Enter Request Subject and any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Remarks, then select Save Draft.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Approval will authorize the handoff. Dispatch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receipt will be recorded separately.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PLANNED REQUEST SCENARIOS ·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08 · Transfer Hardcopy — expected outcome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result_transfer.png" descr="result_transfer.png"/>
          <p:cNvPicPr>
            <a:picLocks noChangeAspect="1"/>
          </p:cNvPicPr>
          <p:nvPr/>
        </p:nvPicPr>
        <p:blipFill>
          <a:blip r:embed="rId2"/>
          <a:srcRect l="9861" r="9861"/>
          <a:stretch>
            <a:fillRect/>
          </a:stretch>
        </p:blipFill>
        <p:spPr>
          <a:xfrm>
            <a:off x="2463736" y="1298448"/>
            <a:ext cx="5615558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656671" y="1553479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784687" y="1452895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84687" y="1483071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1636776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1673351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618488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Approved request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12612" y="3775900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411444" y="3675316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11444" y="3705491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63874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675316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620452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Open approval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timeline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EXPECTED: APPROVED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80593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801368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saved draft and verify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selected document, fields,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attachment where required.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5667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562225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Submit, read the shared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confirmation, and select Confirm.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enters its published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route.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353402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529457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assigned approver opens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Tasks, reviews the proposal,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selects Approve → Confirm at each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required step.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450126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4496689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will create the handoff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work. Complete Dispatch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recipient Accept to record physical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receipt. Expected status: Approved.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illustration shows the expected state for this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sample scenario.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PLANNED REQUEST SCENARIOS ·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09 · Dispose Hardcopy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flow_disposal.png" descr="flow_disposal.png"/>
          <p:cNvPicPr>
            <a:picLocks noChangeAspect="1"/>
          </p:cNvPicPr>
          <p:nvPr/>
        </p:nvPicPr>
        <p:blipFill>
          <a:blip r:embed="rId2"/>
          <a:srcRect l="20347" t="17604" r="20347" b="17604"/>
          <a:stretch>
            <a:fillRect/>
          </a:stretch>
        </p:blipFill>
        <p:spPr>
          <a:xfrm>
            <a:off x="2240280" y="1422405"/>
            <a:ext cx="6062472" cy="44155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81407" y="2571320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280239" y="2470736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0239" y="2500911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243416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470736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415872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Dispose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Hardcopy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933608" y="2571320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061624" y="2470736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1624" y="2500911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174824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211400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156536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State the reason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481407" y="3159088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2280239" y="3058504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0239" y="3088679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3915488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3952064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897200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Select existing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document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87F87"/>
                </a:solidFill>
                <a:latin typeface="Calibri"/>
              </a:rPr>
              <a:t>EXAMPLE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1316736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Subject / Reason: Dispose Hardcopy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documentation sample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1746504"/>
            <a:ext cx="2889504" cy="224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Disposal Reason: Shred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2007107"/>
            <a:ext cx="2889504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Hardcopy Document: Example hardcopy -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293346"/>
                </a:solidFill>
                <a:latin typeface="Calibri"/>
              </a:rPr>
              <a:t>documentation only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2528316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2816352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28117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My Requests → Hardcopy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Disposal and select New Request.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337083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3366262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Hardcopy Disposal, enter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Subject / Reason, and select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document.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413169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4127119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Disposal Reason: Shred,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Scratch, or Other. Complete Other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Reason if selected.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489254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4887976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Add optional Remarks, Save Draft,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then review and submit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proposal.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Save Draft first. Submit only after checking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document, fields and attachment.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PLANNED REQUEST SCENARIOS ·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Sample 09 · Dispose Hardcopy — expected outcome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result_disposal.png" descr="result_disposal.png"/>
          <p:cNvPicPr>
            <a:picLocks noChangeAspect="1"/>
          </p:cNvPicPr>
          <p:nvPr/>
        </p:nvPicPr>
        <p:blipFill>
          <a:blip r:embed="rId2"/>
          <a:srcRect l="9861" t="13125" r="9861" b="13958"/>
          <a:stretch>
            <a:fillRect/>
          </a:stretch>
        </p:blipFill>
        <p:spPr>
          <a:xfrm>
            <a:off x="2240280" y="1794644"/>
            <a:ext cx="6062472" cy="36710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846493" y="2111927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974509" y="2011343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74509" y="2041519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1974767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011343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56479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Completed request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34555" y="3430882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3033387" y="3330298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3387" y="3360473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293722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33029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275434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Open approval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timeline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1042415"/>
            <a:ext cx="2889504" cy="310896"/>
          </a:xfrm>
          <a:prstGeom prst="roundRect">
            <a:avLst>
              <a:gd name="adj" fmla="val 12000"/>
            </a:avLst>
          </a:prstGeom>
          <a:solidFill>
            <a:srgbClr val="08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1110995"/>
            <a:ext cx="2670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FFFFFF"/>
                </a:solidFill>
                <a:latin typeface="Calibri"/>
              </a:rPr>
              <a:t>EXPECTED: COMPLETED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517904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80593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801368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saved draft and verify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selected document, fields,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attachment where required.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5667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562225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Submit, read the shared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confirmation, and select Confirm.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enters its published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approval route.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353402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529457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assigned approver opens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Tasks, reviews the proposal,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selects Approve → Confirm at each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required step.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450126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4496689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record will become Disposed;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inspect Disposal Details and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selected reason in the register.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Expected status: Completed.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illustration shows the expected state for this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sample scenario.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Review and decide approval tasks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approval_task.png" descr="approval_task.png"/>
          <p:cNvPicPr>
            <a:picLocks noChangeAspect="1"/>
          </p:cNvPicPr>
          <p:nvPr/>
        </p:nvPicPr>
        <p:blipFill>
          <a:blip r:embed="rId2"/>
          <a:srcRect l="19306" t="8542" r="833" b="9167"/>
          <a:stretch>
            <a:fillRect/>
          </a:stretch>
        </p:blipFill>
        <p:spPr>
          <a:xfrm>
            <a:off x="2240280" y="1547840"/>
            <a:ext cx="6062472" cy="41646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6203291" y="3232153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331307" y="3131569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1307" y="3161744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3094993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3131569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076705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Read request details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023002" y="3014518"/>
            <a:ext cx="0" cy="128016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6922418" y="281335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22418" y="2843525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835657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872233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817369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Approve this step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72992" y="3014518"/>
            <a:ext cx="0" cy="128016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372408" y="281335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2408" y="2843525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4576321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4612897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558033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Reject this request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8102344" y="3232153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230360" y="3131569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0360" y="3161744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29" name="Oval 28"/>
          <p:cNvSpPr/>
          <p:nvPr/>
        </p:nvSpPr>
        <p:spPr>
          <a:xfrm>
            <a:off x="484632" y="5316985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" y="5353561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5298697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Return for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correction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1325880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My Tasks, choose a category,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open the assigned request's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View details.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209130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2086737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Read the proposal, Approval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Process Timeline, and Workflow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Activity Log; use Review File for an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attached softcopy.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305854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3053969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Approve → Confirm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move the current step forward.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400" y="361302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9720" y="3608451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Return or Reject, enter an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optional Remark, then Continue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record the decision.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400" y="4373880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20" y="4369308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Inspect the updated timeline.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Return at step one sends to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requester; later-step Return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reactivates the previous approver.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15400" y="5696712"/>
            <a:ext cx="2889504" cy="649224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15984" y="5779008"/>
            <a:ext cx="2688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Only the currently assigned approver, or an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authorized member of the assigned role, may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decide.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Approve the active workflow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approval_confirmation.png" descr="approval_confirmation.png"/>
          <p:cNvPicPr>
            <a:picLocks noChangeAspect="1"/>
          </p:cNvPicPr>
          <p:nvPr/>
        </p:nvPicPr>
        <p:blipFill>
          <a:blip r:embed="rId2"/>
          <a:srcRect l="32847" t="31354" r="32847" b="30104"/>
          <a:stretch>
            <a:fillRect/>
          </a:stretch>
        </p:blipFill>
        <p:spPr>
          <a:xfrm>
            <a:off x="2240280" y="1359809"/>
            <a:ext cx="6062472" cy="45407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99507" y="3874384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598339" y="377380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98339" y="3803975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3737224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3773800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718936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Check the approval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action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615508" y="4939267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743524" y="4838683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3524" y="4868858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4802107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4838683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783819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Confirm this step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approval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1325880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assigned request in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Tasks and inspect the proposal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file.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09130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2086737"/>
            <a:ext cx="2615184" cy="284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Approve for the active task.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43941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434844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Read the shared confirmation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Confirm.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99389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2989326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the next step or completed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result in the Approval Process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Timeline.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Approve uses Confirm directly. It does not open 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remark form.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Return from the first approval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request_returned.png" descr="request_returned.png"/>
          <p:cNvPicPr>
            <a:picLocks noChangeAspect="1"/>
          </p:cNvPicPr>
          <p:nvPr/>
        </p:nvPicPr>
        <p:blipFill>
          <a:blip r:embed="rId2"/>
          <a:srcRect l="19306" t="8646" r="833" b="3333"/>
          <a:stretch>
            <a:fillRect/>
          </a:stretch>
        </p:blipFill>
        <p:spPr>
          <a:xfrm>
            <a:off x="2240280" y="1402868"/>
            <a:ext cx="6062472" cy="44545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233207" y="3081909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032039" y="2981325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32039" y="3011500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2944749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981325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26461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Edit returned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request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8134584" y="3081909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262600" y="2981325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2600" y="3011500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685413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721989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667125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Resubmit after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correction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At the first active step, select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Return.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Enter an optional Remark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explaining what needs attention.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434843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Continue. This records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Return decision.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9938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2989325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becomes Returned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its requester, who may edit, save,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resubmit it.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Continue in the Return dialog is the confirmation;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no second Confirm dialog follows.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Return from a later approval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return_previous_approver.png" descr="return_previous_approver.png"/>
          <p:cNvPicPr>
            <a:picLocks noChangeAspect="1"/>
          </p:cNvPicPr>
          <p:nvPr/>
        </p:nvPicPr>
        <p:blipFill>
          <a:blip r:embed="rId2"/>
          <a:srcRect l="19306" t="8542" r="833" b="9167"/>
          <a:stretch>
            <a:fillRect/>
          </a:stretch>
        </p:blipFill>
        <p:spPr>
          <a:xfrm>
            <a:off x="2240280" y="1547840"/>
            <a:ext cx="6062472" cy="41646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31437" y="3232153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630269" y="3131569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30269" y="3161744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3094993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3131569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076705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View return history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00785" y="3232153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928801" y="3131569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8801" y="3161744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835657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872233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817369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Reopened approval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step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Return when an earlier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review needs to be reconsidered.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Add an optional Remark and select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Continue.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434843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immediately previous approver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becomes active again.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9938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2989325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After that approver approves again,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 returns to the step that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returned it.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15400" y="5696712"/>
            <a:ext cx="2889504" cy="649224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15984" y="5779008"/>
            <a:ext cx="2688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 later-step Return keeps the request Submitted;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it does not send an editable draft to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requester.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Reject a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request_rejected.png" descr="request_rejected.png"/>
          <p:cNvPicPr>
            <a:picLocks noChangeAspect="1"/>
          </p:cNvPicPr>
          <p:nvPr/>
        </p:nvPicPr>
        <p:blipFill>
          <a:blip r:embed="rId2"/>
          <a:srcRect l="19306" t="8646" r="833" b="3333"/>
          <a:stretch>
            <a:fillRect/>
          </a:stretch>
        </p:blipFill>
        <p:spPr>
          <a:xfrm>
            <a:off x="2240280" y="1402868"/>
            <a:ext cx="6062472" cy="44545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8102426" y="3030510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8230442" y="2929926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30442" y="2960101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289335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929926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875062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Rejected request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remains in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Review the proposal and choose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Reject when it should stop.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Enter an optional Remark that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explains the decision.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2434843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Continue to record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rejection.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29938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989325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Rejected in the request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status and read the decision in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activity log.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Rejected proposals are not completed document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changes and are not editable returned drafts.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Cancel and, when eligible, remove a draft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cancelled_draft.png" descr="cancelled_draft.png"/>
          <p:cNvPicPr>
            <a:picLocks noChangeAspect="1"/>
          </p:cNvPicPr>
          <p:nvPr/>
        </p:nvPicPr>
        <p:blipFill>
          <a:blip r:embed="rId2"/>
          <a:srcRect l="19306" t="8646" r="833" b="3333"/>
          <a:stretch>
            <a:fillRect/>
          </a:stretch>
        </p:blipFill>
        <p:spPr>
          <a:xfrm>
            <a:off x="2240280" y="1402868"/>
            <a:ext cx="6062472" cy="44545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8102426" y="3030510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8230442" y="2929926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30442" y="2960101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289335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929926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875062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Delete eligible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cancelled draft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your own Draft in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Requests and select Cancel.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 the cancellation and check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Cancelled status.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2434843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If Delete is offered, check that this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is the draft you intend to remove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permanently.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3200272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3195700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Delete and confirm. Only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your cancelled, never-submitted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draft is eligible.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Permanent draft deletion cannot be undone. It 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not an operation on an approved document.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Dispatch and accept the physical hardcopy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transfer_accept.png" descr="transfer_accept.png"/>
          <p:cNvPicPr>
            <a:picLocks noChangeAspect="1"/>
          </p:cNvPicPr>
          <p:nvPr/>
        </p:nvPicPr>
        <p:blipFill>
          <a:blip r:embed="rId2"/>
          <a:srcRect l="19444" t="60208" r="1111" b="10417"/>
          <a:stretch>
            <a:fillRect/>
          </a:stretch>
        </p:blipFill>
        <p:spPr>
          <a:xfrm>
            <a:off x="2240280" y="2882957"/>
            <a:ext cx="6062472" cy="14944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8122573" y="3778384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8250589" y="367780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0589" y="3707975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3641224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3677800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622936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Accept physical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handoff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1325880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My Tasks → Hardcopy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Transfer and find Physical Transfer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Handoffs.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09130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086737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the document, requester,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current holder, recipient,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stage.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285216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2847594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requester selects Dispatch at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physical release, then Confirm.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340664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3402076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After physical receipt, the recipient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selects Accept for the In Transit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handoff, then Confirm.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416750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4162933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Inspect the updated holder,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location, and Transfer History 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Hardcopy Documents.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Only the transfer requester can dispatch. Only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destination recipient can accept.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Record physical dispatch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transfer_dispatch.png" descr="transfer_dispatch.png"/>
          <p:cNvPicPr>
            <a:picLocks noChangeAspect="1"/>
          </p:cNvPicPr>
          <p:nvPr/>
        </p:nvPicPr>
        <p:blipFill>
          <a:blip r:embed="rId2"/>
          <a:srcRect l="19444" t="60208" r="1111" b="10417"/>
          <a:stretch>
            <a:fillRect/>
          </a:stretch>
        </p:blipFill>
        <p:spPr>
          <a:xfrm>
            <a:off x="2240280" y="2882957"/>
            <a:ext cx="6062472" cy="14944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8122573" y="3778384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8250589" y="367780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0589" y="3707975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3641224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3677800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622936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Dispatch physical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handoff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After approval, open My Tasks →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Hardcopy Transfer.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requester locates the intended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Physical Transfer Handoff.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2434843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Dispatch at physical release,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then select Confirm.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29938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989325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that the handoff awaits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receiving user's acceptance.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Only the transfer requester can dispatch.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Verify the received hardcopy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transfer_received.png" descr="transfer_received.png"/>
          <p:cNvPicPr>
            <a:picLocks noChangeAspect="1"/>
          </p:cNvPicPr>
          <p:nvPr/>
        </p:nvPicPr>
        <p:blipFill>
          <a:blip r:embed="rId2"/>
          <a:srcRect l="20556" t="36458" r="2222" b="52917"/>
          <a:stretch>
            <a:fillRect/>
          </a:stretch>
        </p:blipFill>
        <p:spPr>
          <a:xfrm>
            <a:off x="2240280" y="3352122"/>
            <a:ext cx="6062472" cy="5560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58579" y="3747383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3857411" y="3646799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57411" y="3676974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3610223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3646799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591935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Verify receiving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location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6323725" y="3747383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6451741" y="3646799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1741" y="3676974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4350887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4387463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332599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Verify receiving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holder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The receiving user opens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in-transit handoff.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After checking the physical record,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Accept → Confirm.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434843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Inspect the updated holder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location in Hardcopy Documents.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299389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2989325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Use Transfer History when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confirming the recorded handoff.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receiving user's acceptance completes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physical receipt and updates custody.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Read notifications and approval reminders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notifications.png" descr="notifications.png"/>
          <p:cNvPicPr>
            <a:picLocks noChangeAspect="1"/>
          </p:cNvPicPr>
          <p:nvPr/>
        </p:nvPicPr>
        <p:blipFill>
          <a:blip r:embed="rId2"/>
          <a:srcRect l="56597" r="13542" b="67708"/>
          <a:stretch>
            <a:fillRect/>
          </a:stretch>
        </p:blipFill>
        <p:spPr>
          <a:xfrm>
            <a:off x="2240280" y="1444858"/>
            <a:ext cx="6062472" cy="43706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851591" y="1980611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979607" y="1880027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79607" y="1910202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1843451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1880027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825163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Open Notifications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752899" y="2833587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880915" y="2733003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0915" y="2763178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2696427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2733003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2678139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Close Notifications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521128" y="3915668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2319960" y="3815084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19960" y="3845259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3778508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3815084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760220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Open pending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approval task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837492" y="5047094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7965508" y="494651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65508" y="4976685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29" name="Oval 28"/>
          <p:cNvSpPr/>
          <p:nvPr/>
        </p:nvSpPr>
        <p:spPr>
          <a:xfrm>
            <a:off x="484632" y="4909934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" y="4946510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891646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rows per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1325880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the bell to read Notifications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their Request Reference, title,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approval label.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209130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2086737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an entry to mark that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notification read and open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matching My Tasks list.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285216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2847594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Use Previous, Next, and Rows for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additional notification pages.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400" y="340664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9720" y="3402076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If Approval needed appears,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inspect its new-task links or select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Got it.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400" y="416750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20" y="4162933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Use My Tasks to record the actual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decision or handoff; reading 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notice does not approve it.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15400" y="5696712"/>
            <a:ext cx="2889504" cy="649224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15984" y="5779008"/>
            <a:ext cx="2688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Selecting an entry will acknowledge that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notification. Opening the panel alone will leave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unread entries unacknowledged.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Apply authorized direct document actions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direct_hardcopy.png" descr="direct_hardcopy.png"/>
          <p:cNvPicPr>
            <a:picLocks noChangeAspect="1"/>
          </p:cNvPicPr>
          <p:nvPr/>
        </p:nvPicPr>
        <p:blipFill>
          <a:blip r:embed="rId2"/>
          <a:srcRect l="20347" t="15625" r="20347" b="15521"/>
          <a:stretch>
            <a:fillRect/>
          </a:stretch>
        </p:blipFill>
        <p:spPr>
          <a:xfrm>
            <a:off x="2258976" y="1298448"/>
            <a:ext cx="602507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97826" y="2436418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296658" y="2335834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96658" y="2366009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2299258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335834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280970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Enter the sample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title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497826" y="4188845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296658" y="4088261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96658" y="4118437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4051685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4088261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033397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Current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Holder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896023" y="5485556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024039" y="5384972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24039" y="5415147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5348396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5384972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30108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Save Document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confirm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1325880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Open the permitted document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register. Direct actions require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corresponding direct permission.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206654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2061972"/>
            <a:ext cx="2615184" cy="8702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For a hardcopy, select Hardcopy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Direct and complete title, storage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hierarchy, holder, and optional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retention or notes.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300075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2996183"/>
            <a:ext cx="2615184" cy="473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Select Save Document → Confirm,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then inspect the saved record.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353872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3534156"/>
            <a:ext cx="2615184" cy="8702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For a softcopy, choose Softcopy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Direct, select the action,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complete the visible fields; Create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and Revise require a file.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4472940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4468368"/>
            <a:ext cx="2615184" cy="8702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Select Approve Directly → Confirm.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Edit an active record or use Dispose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with a disposal reason only when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those actions are permitted.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400" y="5541264"/>
            <a:ext cx="2889504" cy="804672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15984" y="5623560"/>
            <a:ext cx="268833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An authorized direct softcopy action will be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approved and applied immediately. Use My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Requests when approval through the workflow 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required.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WORKED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Apply a direct softcopy 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direct_softcopy.png" descr="direct_softcopy.png"/>
          <p:cNvPicPr>
            <a:picLocks noChangeAspect="1"/>
          </p:cNvPicPr>
          <p:nvPr/>
        </p:nvPicPr>
        <p:blipFill>
          <a:blip r:embed="rId2"/>
          <a:srcRect l="20347" t="13333" r="20347" b="13333"/>
          <a:stretch>
            <a:fillRect/>
          </a:stretch>
        </p:blipFill>
        <p:spPr>
          <a:xfrm>
            <a:off x="2442980" y="1298448"/>
            <a:ext cx="56570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59423" y="2371569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458255" y="2270985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8255" y="2301160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2234409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270985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216121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Create, Revise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Cancel directly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755592" y="2920032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883608" y="2819448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3608" y="2849623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2975073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011649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2956785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Use a unique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document number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659423" y="4016959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2458255" y="3916375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8255" y="3946550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3879799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3916375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861511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Attach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controlled file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735720" y="5516617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7863736" y="5416033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736" y="5446208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29" name="Oval 28"/>
          <p:cNvSpPr/>
          <p:nvPr/>
        </p:nvSpPr>
        <p:spPr>
          <a:xfrm>
            <a:off x="484632" y="5379457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" y="5416033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5361169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Approve Directly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and confirm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Softcopy Documents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Softcopy Direct.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1880362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Choose Create Softcopy, Revise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Softcopy, or Cancel Softcopy.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243941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2434843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Complete the action-specific fields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attach a file for Create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Revise.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400" y="3200272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9720" y="3195700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Approve Directly, then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Confirm. Inspect the resulting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record.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Direct actions require the appropriate permission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and apply the change immediately.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Assign documents directly to users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assign_user.png" descr="assign_user.png"/>
          <p:cNvPicPr>
            <a:picLocks noChangeAspect="1"/>
          </p:cNvPicPr>
          <p:nvPr/>
        </p:nvPicPr>
        <p:blipFill>
          <a:blip r:embed="rId2"/>
          <a:srcRect l="25903" t="31979" r="25903" b="31979"/>
          <a:stretch>
            <a:fillRect/>
          </a:stretch>
        </p:blipFill>
        <p:spPr>
          <a:xfrm>
            <a:off x="2240280" y="2118917"/>
            <a:ext cx="6062472" cy="3022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31570" y="3368101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330402" y="3267517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0402" y="3297692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3230941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3267517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212653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document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74710" y="3368101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002726" y="3267517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2726" y="3297692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971605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4008181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953317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active user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848503" y="4564052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976519" y="4463468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76519" y="4493644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4712269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4748845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693981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Save Assignment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1325880"/>
            <a:ext cx="2615184" cy="64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Open Document Assignments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choose Hardcopy / Places or Softcopy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/ Categories.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204177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2037207"/>
            <a:ext cx="2615184" cy="64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Select Assign Document, choose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document and Assigned User, then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Save Assignment → Confirm.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275310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2748534"/>
            <a:ext cx="2615184" cy="837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Use Edit to select an Assigned User.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Hardcopy replaces Current Holder;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softcopy adds the selected user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retains earlier assignees.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365429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3649726"/>
            <a:ext cx="2615184" cy="837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For a bulk hardcopy assignment, select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Location and Assigned User, then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Assign All → Confirm. Complete active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transfers first.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4555490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4550918"/>
            <a:ext cx="2615184" cy="837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For softcopies, select Category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Subcategory and Assigned User, then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Assign All → Confirm; subcategories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3346"/>
                </a:solidFill>
                <a:latin typeface="Calibri"/>
              </a:rPr>
              <a:t>are included.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400" y="5541264"/>
            <a:ext cx="2889504" cy="804672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15984" y="5623560"/>
            <a:ext cx="268833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Hardcopy assignment will change Current Holder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immediately. Softcopy assignment will retain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earlier assignees. Assign All will be limited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2,000 active records.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Maintain places and softcopy categories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places.png" descr="places.png"/>
          <p:cNvPicPr>
            <a:picLocks noChangeAspect="1"/>
          </p:cNvPicPr>
          <p:nvPr/>
        </p:nvPicPr>
        <p:blipFill>
          <a:blip r:embed="rId2"/>
          <a:srcRect l="19306" t="8646" r="833" b="3333"/>
          <a:stretch>
            <a:fillRect/>
          </a:stretch>
        </p:blipFill>
        <p:spPr>
          <a:xfrm>
            <a:off x="2240280" y="1402868"/>
            <a:ext cx="6062472" cy="44545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07154" y="1634823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005986" y="1534239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05986" y="1564415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1636776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1673351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618488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a setup tab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8086611" y="2077647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214627" y="1977063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4627" y="2007239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237744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2414016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2359152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Add reference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record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543625" y="2952752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671641" y="2852168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71641" y="2882343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3118104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3154680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099816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Edit reference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record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1325880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Setup Places and choose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Area, Specific, Asset, Location,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Softcopy Categories.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209130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2086737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Use Add or Edit. Maintain Area →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Specific → optional Asset before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selecting Location.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285216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2847594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For Location, enter Location Name,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Area, Specific, optional Asset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Number, and optional Sequence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Archive Date.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381939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3814826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For Softcopy Categories, enter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Name, Folder, optional Description,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Parent for a subcategory.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4580255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4575683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Check Active, then Save Record →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Confirm. Deactivate an unused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reference item to preserve its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historical links.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400" y="5843016"/>
            <a:ext cx="2889504" cy="502920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15984" y="592531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Only tabs and actions permitted for the signed-in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account will be shown.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Create and maintain user accounts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new_user.png" descr="new_user.png"/>
          <p:cNvPicPr>
            <a:picLocks noChangeAspect="1"/>
          </p:cNvPicPr>
          <p:nvPr/>
        </p:nvPicPr>
        <p:blipFill>
          <a:blip r:embed="rId2"/>
          <a:srcRect l="20347" t="7812" r="20347" b="7812"/>
          <a:stretch>
            <a:fillRect/>
          </a:stretch>
        </p:blipFill>
        <p:spPr>
          <a:xfrm>
            <a:off x="2813134" y="1298448"/>
            <a:ext cx="491676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430516" y="2706116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558532" y="2605532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8532" y="2635707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2568956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605532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550668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unique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username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430516" y="3181096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558532" y="3080512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58532" y="3110687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30962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346196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291332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primary role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84500" y="3658954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2783332" y="355837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83332" y="3588545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4050283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4086859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031996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optional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leader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984500" y="4125298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2783332" y="4024714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3332" y="4054889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29" name="Oval 28"/>
          <p:cNvSpPr/>
          <p:nvPr/>
        </p:nvSpPr>
        <p:spPr>
          <a:xfrm>
            <a:off x="484632" y="4790948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" y="4827524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772660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assigned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roles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7413244" y="5576722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7541260" y="5476138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1260" y="5506313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E</a:t>
            </a:r>
          </a:p>
        </p:txBody>
      </p:sp>
      <p:sp>
        <p:nvSpPr>
          <p:cNvPr id="35" name="Oval 34"/>
          <p:cNvSpPr/>
          <p:nvPr/>
        </p:nvSpPr>
        <p:spPr>
          <a:xfrm>
            <a:off x="484632" y="5531612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2" y="556818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5513324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Save User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9720" y="1325880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Open User Management and select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Add User or Edit an existing eligible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account.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400" y="206654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20" y="2061972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Complete First Name, optional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Middle Name, Last Name,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Username, and Position Title.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15400" y="280263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2798064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Choose Primary role and Assigned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roles; select an optional Leader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when the workflow needs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15400" y="353872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9720" y="3534156"/>
            <a:ext cx="2615184" cy="8702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Check Active account, then Save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User → Confirm. New-account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credentials appear once; share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privately with the owner.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15400" y="4472940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9720" y="4468368"/>
            <a:ext cx="261518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Use Generate a new temporary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password for a reset, Deactivate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disable an eligible account,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Assigned Documents to inspect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assignments.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15400" y="5696712"/>
            <a:ext cx="2889504" cy="649224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15984" y="5779008"/>
            <a:ext cx="2688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 temporary password will be displayed once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after saving. The user will be required to replace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before accessing protected modules.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Maintain roles and permissions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roles.png" descr="roles.png"/>
          <p:cNvPicPr>
            <a:picLocks noChangeAspect="1"/>
          </p:cNvPicPr>
          <p:nvPr/>
        </p:nvPicPr>
        <p:blipFill>
          <a:blip r:embed="rId2"/>
          <a:srcRect l="19306" t="8646" r="833" b="3333"/>
          <a:stretch>
            <a:fillRect/>
          </a:stretch>
        </p:blipFill>
        <p:spPr>
          <a:xfrm>
            <a:off x="2240280" y="1402868"/>
            <a:ext cx="6062472" cy="44545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8086611" y="1734986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8214627" y="1634402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4627" y="1664577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1636776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1673351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618488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Add Role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8102426" y="2615362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230442" y="2514778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0442" y="2544954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2478202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2514778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2459914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View role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permissions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1325880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Roles &amp; Permissions; search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or filter to find the role.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188493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880362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Add Role or Edit and enter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Role Name; check Active role as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appropriate.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64579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641219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Under Module Permissions, select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only the actions needed for this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role.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340664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402076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Select Save Role → Confirm, then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assign the role to users in User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Management.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416750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4162933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Use Deactivate or permanent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Remove only when offered for an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unused role, and read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confirmation carefully.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5696712"/>
            <a:ext cx="2889504" cy="649224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15984" y="5779008"/>
            <a:ext cx="2688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Permissions will control both visible menus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individual actions such as direct changes,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requests, downloads, and printing.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Configure and publish approval workflows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workflow_steps.png" descr="workflow_steps.png"/>
          <p:cNvPicPr>
            <a:picLocks noChangeAspect="1"/>
          </p:cNvPicPr>
          <p:nvPr/>
        </p:nvPicPr>
        <p:blipFill>
          <a:blip r:embed="rId2"/>
          <a:srcRect l="9931" t="6667" r="9931" b="7083"/>
          <a:stretch>
            <a:fillRect/>
          </a:stretch>
        </p:blipFill>
        <p:spPr>
          <a:xfrm>
            <a:off x="2240280" y="1455243"/>
            <a:ext cx="6062472" cy="43498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06456" y="2660907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205288" y="2560323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05288" y="2590499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2523747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560323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505459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Choose workflow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version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8008559" y="2663534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136575" y="256295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6575" y="2593125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3264411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3300987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246123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Create Next Draft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406456" y="3414776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2205288" y="3314192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05288" y="3344368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4005075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4041651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986787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Check published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default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63690" y="3858692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2562522" y="3758108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62522" y="3788283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29" name="Oval 28"/>
          <p:cNvSpPr/>
          <p:nvPr/>
        </p:nvSpPr>
        <p:spPr>
          <a:xfrm>
            <a:off x="484632" y="4745739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" y="4782315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727451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Review approval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step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1325880"/>
            <a:ext cx="2615184" cy="8702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Open Workflow Builder, find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Request Type, and open Steps. Use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Workflow Version to inspect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route.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226466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2260092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Select Start First Draft or Create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Next Draft; published versions are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read-only.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300075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2996184"/>
            <a:ext cx="2615184" cy="8702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Add Approval Step, enter its name,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and select a role, specific user,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Requester's leader, or Requester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account; Save Step → Confirm.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400" y="3934968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9720" y="3930396"/>
            <a:ext cx="2615184" cy="672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Edit, move, or remove draft steps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until the order is correct, then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Validate &amp; Publish → Confirm.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400" y="4671060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20" y="4666488"/>
            <a:ext cx="2615184" cy="8702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Check the published default. Future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requests will use it; previously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submitted requests will retain their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93346"/>
                </a:solidFill>
                <a:latin typeface="Calibri"/>
              </a:rPr>
              <a:t>original approval timeline.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15400" y="5696712"/>
            <a:ext cx="2889504" cy="649224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15984" y="5779008"/>
            <a:ext cx="2688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 workflow will support up to 30 approval steps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and will require an approval route before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publication.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Inspect the Internal Audit Trail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audit.png" descr="audit.png"/>
          <p:cNvPicPr>
            <a:picLocks noChangeAspect="1"/>
          </p:cNvPicPr>
          <p:nvPr/>
        </p:nvPicPr>
        <p:blipFill>
          <a:blip r:embed="rId2"/>
          <a:srcRect l="19306" t="8646" r="833" b="3333"/>
          <a:stretch>
            <a:fillRect/>
          </a:stretch>
        </p:blipFill>
        <p:spPr>
          <a:xfrm>
            <a:off x="2240280" y="1402868"/>
            <a:ext cx="6062472" cy="44545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17860" y="1829877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16692" y="1729293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16692" y="1759468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1692717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1729293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674429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Search audit events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1325880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Internal Audit Trail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search for the relevant user, action,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or subject.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091309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086737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Filter All Results, Success, or Failed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and choose the required date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period.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2852166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2847594"/>
            <a:ext cx="2615184" cy="490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Read Recorded At, User, Action,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Subject, and Result.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3406647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3402076"/>
            <a:ext cx="2615184" cy="696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Open View for Audit Event details,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including User ID and recorded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Details; select Close when finished.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416750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4162933"/>
            <a:ext cx="2615184" cy="903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For document-specific evidence,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also inspect its Approval History,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Related Requests, or Transfer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3346"/>
                </a:solidFill>
                <a:latin typeface="Calibri"/>
              </a:rPr>
              <a:t>History.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400" y="5696712"/>
            <a:ext cx="2889504" cy="649224"/>
          </a:xfrm>
          <a:prstGeom prst="roundRect">
            <a:avLst>
              <a:gd name="adj" fmla="val 12000"/>
            </a:avLst>
          </a:prstGeom>
          <a:solidFill>
            <a:srgbClr val="E5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15984" y="5779008"/>
            <a:ext cx="2688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The proposed audit page will provide read-only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inspection of events, without edit or delete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087F87"/>
                </a:solidFill>
                <a:latin typeface="Calibri"/>
              </a:rPr>
              <a:t>operations.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A80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011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SYSTEM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75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243B"/>
                </a:solidFill>
                <a:latin typeface="Calibri"/>
              </a:rPr>
              <a:t>Back up, import, and restore system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014984"/>
            <a:ext cx="8321040" cy="5349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7620">
            <a:solidFill>
              <a:srgbClr val="DFE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creen illustration: backups.png" descr="backups.png"/>
          <p:cNvPicPr>
            <a:picLocks noChangeAspect="1"/>
          </p:cNvPicPr>
          <p:nvPr/>
        </p:nvPicPr>
        <p:blipFill>
          <a:blip r:embed="rId2"/>
          <a:srcRect l="19306" t="8646" r="833" b="3333"/>
          <a:stretch>
            <a:fillRect/>
          </a:stretch>
        </p:blipFill>
        <p:spPr>
          <a:xfrm>
            <a:off x="2240280" y="1402868"/>
            <a:ext cx="6062472" cy="44545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" y="1179576"/>
            <a:ext cx="14264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57084"/>
                </a:solidFill>
                <a:latin typeface="Calibri"/>
              </a:rPr>
              <a:t>ON THIS SCREEN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64261" y="1650639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4763093" y="1550055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63093" y="1580230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484632" y="1636776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1673351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618488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Import backup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28657" y="1417188"/>
            <a:ext cx="0" cy="128016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6328073" y="121602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8073" y="1246196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484632" y="237744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2414016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2359152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Restore system data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16778" y="1417188"/>
            <a:ext cx="0" cy="128016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116194" y="1216020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16194" y="1246196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" y="3118104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3154680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099816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Clean up archives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8197317" y="1650639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325333" y="1550055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5333" y="1580230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29" name="Oval 28"/>
          <p:cNvSpPr/>
          <p:nvPr/>
        </p:nvSpPr>
        <p:spPr>
          <a:xfrm>
            <a:off x="484632" y="3858768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" y="3895344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3840480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Backup now when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ready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207154" y="2040745"/>
            <a:ext cx="128016" cy="0"/>
          </a:xfrm>
          <a:prstGeom prst="line">
            <a:avLst/>
          </a:prstGeom>
          <a:ln w="14604">
            <a:solidFill>
              <a:srgbClr val="A8003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2005986" y="1940161"/>
            <a:ext cx="201168" cy="201168"/>
          </a:xfrm>
          <a:prstGeom prst="ellipse">
            <a:avLst/>
          </a:prstGeom>
          <a:solidFill>
            <a:srgbClr val="FFFFFF"/>
          </a:solidFill>
          <a:ln w="1143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05986" y="1970337"/>
            <a:ext cx="2011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80037"/>
                </a:solidFill>
                <a:latin typeface="Calibri"/>
              </a:rPr>
              <a:t>E</a:t>
            </a:r>
          </a:p>
        </p:txBody>
      </p:sp>
      <p:sp>
        <p:nvSpPr>
          <p:cNvPr id="35" name="Oval 34"/>
          <p:cNvSpPr/>
          <p:nvPr/>
        </p:nvSpPr>
        <p:spPr>
          <a:xfrm>
            <a:off x="484632" y="4599431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00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2" y="4636007"/>
            <a:ext cx="256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581144"/>
            <a:ext cx="10972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Check backup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93346"/>
                </a:solidFill>
                <a:latin typeface="Calibri"/>
              </a:rPr>
              <a:t>readiness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1042415"/>
            <a:ext cx="2889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80037"/>
                </a:solidFill>
                <a:latin typeface="Calibri"/>
              </a:rPr>
              <a:t>WHAT TO DO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400" y="133045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9720" y="1325880"/>
            <a:ext cx="2615184" cy="771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3346"/>
                </a:solidFill>
                <a:latin typeface="Calibri"/>
              </a:rPr>
              <a:t>Open Backup &amp; Restore and check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3346"/>
                </a:solidFill>
                <a:latin typeface="Calibri"/>
              </a:rPr>
              <a:t>readiness. The example shows incomplete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3346"/>
                </a:solidFill>
                <a:latin typeface="Calibri"/>
              </a:rPr>
              <a:t>setup, disabled Backup now, and an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3346"/>
                </a:solidFill>
                <a:latin typeface="Calibri"/>
              </a:rPr>
              <a:t>empty archive list.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400" y="2165604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20" y="2161032"/>
            <a:ext cx="2615184" cy="944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3346"/>
                </a:solidFill>
                <a:latin typeface="Calibri"/>
              </a:rPr>
              <a:t>Have the administrator complete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3346"/>
                </a:solidFill>
                <a:latin typeface="Calibri"/>
              </a:rPr>
              <a:t>configuration and readiness checks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3346"/>
                </a:solidFill>
                <a:latin typeface="Calibri"/>
              </a:rPr>
              <a:t>before using backup or restore.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3346"/>
                </a:solidFill>
                <a:latin typeface="Calibri"/>
              </a:rPr>
              <a:t>planned daily schedule is 5:00 PM,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3346"/>
                </a:solidFill>
                <a:latin typeface="Calibri"/>
              </a:rPr>
              <a:t>Asia/Manila.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15400" y="3174111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3169539"/>
            <a:ext cx="2615184" cy="771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3346"/>
                </a:solidFill>
                <a:latin typeface="Calibri"/>
              </a:rPr>
              <a:t>After setup, select Backup now then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3346"/>
                </a:solidFill>
                <a:latin typeface="Calibri"/>
              </a:rPr>
              <a:t>Confirm. Check the resulting archive;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3346"/>
                </a:solidFill>
                <a:latin typeface="Calibri"/>
              </a:rPr>
              <a:t>Download or Import backup will require 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3346"/>
                </a:solidFill>
                <a:latin typeface="Calibri"/>
              </a:rPr>
              <a:t>ready setup and permission.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15400" y="4009263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9720" y="4004691"/>
            <a:ext cx="2615184" cy="944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3346"/>
                </a:solidFill>
                <a:latin typeface="Calibri"/>
              </a:rPr>
              <a:t>To restore when ready, choose Backup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3346"/>
                </a:solidFill>
                <a:latin typeface="Calibri"/>
              </a:rPr>
              <a:t>restore, enter Your password and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3346"/>
                </a:solidFill>
                <a:latin typeface="Calibri"/>
              </a:rPr>
              <a:t>RESTORE, then Restore selected backup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3346"/>
                </a:solidFill>
                <a:latin typeface="Calibri"/>
              </a:rPr>
              <a:t>then Confirm. A recovery backup will be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3346"/>
                </a:solidFill>
                <a:latin typeface="Calibri"/>
              </a:rPr>
              <a:t>created first.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15400" y="5017770"/>
            <a:ext cx="210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87F87"/>
                </a:solidFill>
                <a:latin typeface="Calibri"/>
              </a:rPr>
              <a:t>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9720" y="5013198"/>
            <a:ext cx="2615184" cy="5977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3346"/>
                </a:solidFill>
                <a:latin typeface="Calibri"/>
              </a:rPr>
              <a:t>Use Clean up then Confirm for backup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3346"/>
                </a:solidFill>
                <a:latin typeface="Calibri"/>
              </a:rPr>
              <a:t>and log archives older than three months.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93346"/>
                </a:solidFill>
                <a:latin typeface="Calibri"/>
              </a:rPr>
              <a:t>Check archive dates after backup runs.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7472" y="6519672"/>
            <a:ext cx="11494008" cy="8229"/>
          </a:xfrm>
          <a:prstGeom prst="rect">
            <a:avLst/>
          </a:prstGeom>
          <a:solidFill>
            <a:srgbClr val="DF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6620256"/>
            <a:ext cx="3017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657084"/>
                </a:solidFill>
                <a:latin typeface="Calibri"/>
              </a:rPr>
              <a:t>PK DOCUMENT CONTROL  |  USER GUIDE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0" y="6620256"/>
            <a:ext cx="5852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657084"/>
                </a:solidFill>
                <a:latin typeface="Calibri"/>
              </a:rPr>
              <a:t>PROPOSED OPERATING PROCEDURES  ·  REVISION 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789920" y="6601968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7243B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1</ns0:TotalTime>
  <ns0:Words>0</ns0:Words>
  <ns0:Application>Microsoft Office PowerPoint</ns0:Application>
  <ns0:PresentationFormat>Widescreen (16:9)</ns0:PresentationFormat>
  <ns0:Paragraphs>0</ns0:Paragraphs>
  <ns0:Slides>50</ns0:Slides>
  <ns0:Notes>50</ns0:Notes>
  <ns0:HiddenSlides>0</ns0:HiddenSlides>
  <ns0:MMClips>0</ns0:MMClips>
  <ns0:ScaleCrop>false</ns0:ScaleCrop>
  <ns0:HeadingPairs>
    <ns1:vector size="4" baseType="variant">
      <ns1:variant>
        <ns1:lpstr>Theme</ns1:lpstr>
      </ns1:variant>
      <ns1:variant>
        <ns1:i4>1</ns1:i4>
      </ns1:variant>
      <ns1:variant>
        <ns1:lpstr>Slide Titles</ns1:lpstr>
      </ns1:variant>
      <ns1:variant>
        <ns1:i4>0</ns1:i4>
      </ns1:variant>
    </ns1:vector>
  </ns0:HeadingPairs>
  <ns0:TitlesOfParts>
    <ns1:vector size="1" baseType="lpstr">
      <ns1:lpstr>Office Theme</ns1:lpstr>
    </ns1:vector>
  </ns0:TitlesOfParts>
  <ns0:Manager/>
  <ns0:Company>PK Document Control</ns0:Company>
  <ns0:LinksUpToDate>false</ns0:LinksUpToDate>
  <ns0:SharedDoc>false</ns0:SharedDoc>
  <ns0:HyperlinkBase/>
  <ns0:HyperlinksChanged>false</ns0:HyperlinksChanged>
  <ns0:AppVersion>14.0000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PK Document Control — Proposed User Guide</dc:title>
  <dc:subject>Planned user procedures and nine request scenarios</dc:subject>
  <dc:creator>PK Document Control</dc:creator>
  <cp:keywords>proposed user guide, sample scenarios, document control</cp:keywords>
  <dc:description>Proposed operating procedures for document control.</dc:description>
  <cp:lastModifiedBy>PK Document Control</cp:lastModifiedBy>
  <cp:revision>2</cp:revision>
  <dcterms:created xsi:type="dcterms:W3CDTF">2026-10-26T00:00:00Z</dcterms:created>
  <dcterms:modified xsi:type="dcterms:W3CDTF">2026-10-26T00:00:00Z</dcterms:modified>
  <cp:category/>
</cp:coreProperties>
</file>